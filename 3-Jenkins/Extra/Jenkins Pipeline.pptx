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4.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77" r:id="rId5"/>
    <p:sldMasterId id="2147483964" r:id="rId6"/>
    <p:sldMasterId id="2147484051" r:id="rId7"/>
    <p:sldMasterId id="2147484138" r:id="rId8"/>
  </p:sldMasterIdLst>
  <p:notesMasterIdLst>
    <p:notesMasterId r:id="rId25"/>
  </p:notesMasterIdLst>
  <p:handoutMasterIdLst>
    <p:handoutMasterId r:id="rId26"/>
  </p:handoutMasterIdLst>
  <p:sldIdLst>
    <p:sldId id="256" r:id="rId9"/>
    <p:sldId id="258" r:id="rId10"/>
    <p:sldId id="259" r:id="rId11"/>
    <p:sldId id="261" r:id="rId12"/>
    <p:sldId id="260" r:id="rId13"/>
    <p:sldId id="262" r:id="rId14"/>
    <p:sldId id="263" r:id="rId15"/>
    <p:sldId id="264" r:id="rId16"/>
    <p:sldId id="265" r:id="rId17"/>
    <p:sldId id="266" r:id="rId18"/>
    <p:sldId id="275" r:id="rId19"/>
    <p:sldId id="268" r:id="rId20"/>
    <p:sldId id="270" r:id="rId21"/>
    <p:sldId id="269" r:id="rId22"/>
    <p:sldId id="272" r:id="rId23"/>
    <p:sldId id="274" r:id="rId24"/>
  </p:sldIdLst>
  <p:sldSz cx="12192000" cy="6858000"/>
  <p:notesSz cx="6645275" cy="9775825"/>
  <p:custDataLst>
    <p:tags r:id="rId27"/>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a:srgbClr val="004050"/>
    <a:srgbClr val="00CEF9"/>
    <a:srgbClr val="03EAB3"/>
    <a:srgbClr val="00D2FE"/>
    <a:srgbClr val="28CEF6"/>
    <a:srgbClr val="FFD217"/>
    <a:srgbClr val="FF6124"/>
    <a:srgbClr val="EECF40"/>
    <a:srgbClr val="A5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20" autoAdjust="0"/>
    <p:restoredTop sz="86541" autoAdjust="0"/>
  </p:normalViewPr>
  <p:slideViewPr>
    <p:cSldViewPr snapToGrid="0" snapToObjects="1">
      <p:cViewPr varScale="1">
        <p:scale>
          <a:sx n="66" d="100"/>
          <a:sy n="66" d="100"/>
        </p:scale>
        <p:origin x="1066" y="278"/>
      </p:cViewPr>
      <p:guideLst>
        <p:guide pos="3840"/>
        <p:guide orient="horz" pos="3771"/>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79" d="100"/>
          <a:sy n="79" d="100"/>
        </p:scale>
        <p:origin x="335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25/01/2026</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25/01/2026</a:t>
            </a:fld>
            <a:endParaRPr lang="en-GB" dirty="0"/>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dirty="0"/>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dirty="0"/>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ontserrat" panose="00000500000000000000" pitchFamily="2" charset="0"/>
        <a:ea typeface="+mn-ea"/>
        <a:cs typeface="+mn-cs"/>
      </a:defRPr>
    </a:lvl1pPr>
    <a:lvl2pPr marL="457189" algn="l" defTabSz="914377" rtl="0" eaLnBrk="1" latinLnBrk="0" hangingPunct="1">
      <a:defRPr sz="1200" kern="1200">
        <a:solidFill>
          <a:schemeClr val="tx1"/>
        </a:solidFill>
        <a:latin typeface="Montserrat" panose="00000500000000000000" pitchFamily="2" charset="0"/>
        <a:ea typeface="+mn-ea"/>
        <a:cs typeface="+mn-cs"/>
      </a:defRPr>
    </a:lvl2pPr>
    <a:lvl3pPr marL="914377" algn="l" defTabSz="914377" rtl="0" eaLnBrk="1" latinLnBrk="0" hangingPunct="1">
      <a:defRPr sz="1200" kern="1200">
        <a:solidFill>
          <a:schemeClr val="tx1"/>
        </a:solidFill>
        <a:latin typeface="Montserrat" panose="00000500000000000000" pitchFamily="2" charset="0"/>
        <a:ea typeface="+mn-ea"/>
        <a:cs typeface="+mn-cs"/>
      </a:defRPr>
    </a:lvl3pPr>
    <a:lvl4pPr marL="1371566" algn="l" defTabSz="914377" rtl="0" eaLnBrk="1" latinLnBrk="0" hangingPunct="1">
      <a:defRPr sz="1200" kern="1200">
        <a:solidFill>
          <a:schemeClr val="tx1"/>
        </a:solidFill>
        <a:latin typeface="Montserrat" panose="00000500000000000000" pitchFamily="2" charset="0"/>
        <a:ea typeface="+mn-ea"/>
        <a:cs typeface="+mn-cs"/>
      </a:defRPr>
    </a:lvl4pPr>
    <a:lvl5pPr marL="1828754" algn="l" defTabSz="914377" rtl="0" eaLnBrk="1" latinLnBrk="0" hangingPunct="1">
      <a:defRPr sz="1200" kern="1200">
        <a:solidFill>
          <a:schemeClr val="tx1"/>
        </a:solidFill>
        <a:latin typeface="Montserrat" panose="00000500000000000000" pitchFamily="2"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ea typeface="Droid Sans Fallback"/>
              </a:rPr>
              <a:t>Traditional Jenkins jobs are configured via the web UI.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This creates problems: you can’t track changes easily, reproduce builds, or collaborate effectively.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Pipelines solve this by keeping build, test, and deploy logic in version control alongside the code.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This improves reliability, visibility, and repeatability.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dirty="0"/>
          </a:p>
        </p:txBody>
      </p:sp>
    </p:spTree>
    <p:extLst>
      <p:ext uri="{BB962C8B-B14F-4D97-AF65-F5344CB8AC3E}">
        <p14:creationId xmlns:p14="http://schemas.microsoft.com/office/powerpoint/2010/main" val="4101810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Think of a Jenkinsfile as a “recipe” for building, testing, and deploying your app. Because it’s in the repo, every team member works with the same pipeline. Changes to the pipeline itself are tracked in Git, which supports auditing and collaboration.</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214655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Every declarative Jenkinsfile follows this structure. The consistent shape makes pipelines predictable, which is important for both humans and automated processes.</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Tree>
    <p:extLst>
      <p:ext uri="{BB962C8B-B14F-4D97-AF65-F5344CB8AC3E}">
        <p14:creationId xmlns:p14="http://schemas.microsoft.com/office/powerpoint/2010/main" val="272799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For teaching and production pipelines, declarative pipelines are preferred because they guide developers toward a clear structure. Scripted pipelines are powerful for complex logic, but harder to read and maintain.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Tree>
    <p:extLst>
      <p:ext uri="{BB962C8B-B14F-4D97-AF65-F5344CB8AC3E}">
        <p14:creationId xmlns:p14="http://schemas.microsoft.com/office/powerpoint/2010/main" val="1381648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Instead of one monolithic build, splitting into stages helps teams quickly see which part of the process failed. Stages also provide nice visual feedback in the Jenkins interface.</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Tree>
    <p:extLst>
      <p:ext uri="{BB962C8B-B14F-4D97-AF65-F5344CB8AC3E}">
        <p14:creationId xmlns:p14="http://schemas.microsoft.com/office/powerpoint/2010/main" val="4014692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This mirrors how modern CI/CD pipelines are designed in real-world projects. You can show students a small diagram of stages flowing sequentially.</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dirty="0"/>
          </a:p>
        </p:txBody>
      </p:sp>
    </p:spTree>
    <p:extLst>
      <p:ext uri="{BB962C8B-B14F-4D97-AF65-F5344CB8AC3E}">
        <p14:creationId xmlns:p14="http://schemas.microsoft.com/office/powerpoint/2010/main" val="563766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Parallel stages are like having multiple workers in a kitchen. Instead of cooking one dish after another, independent tasks happen at the same time, giving faster feedback.</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Tree>
    <p:extLst>
      <p:ext uri="{BB962C8B-B14F-4D97-AF65-F5344CB8AC3E}">
        <p14:creationId xmlns:p14="http://schemas.microsoft.com/office/powerpoint/2010/main" val="4293031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You can combine multiple test suites or builds in parallel. Jenkins reports each parallel task separately, so it’s easy to see which failed.</a:t>
            </a:r>
            <a:br>
              <a:rPr lang="en-GB" dirty="0"/>
            </a:br>
            <a:br>
              <a:rPr lang="en-GB" dirty="0"/>
            </a:br>
            <a:r>
              <a:rPr lang="en-GB" dirty="0"/>
              <a:t>Here is what each part does.</a:t>
            </a:r>
          </a:p>
          <a:p>
            <a:r>
              <a:rPr lang="en-GB" sz="1200" b="1" kern="1200" dirty="0">
                <a:solidFill>
                  <a:schemeClr val="tx1"/>
                </a:solidFill>
                <a:latin typeface="Montserrat" panose="00000500000000000000" pitchFamily="2" charset="0"/>
                <a:ea typeface="+mn-ea"/>
                <a:cs typeface="+mn-cs"/>
              </a:rPr>
              <a:t>stage('Quality Checks')		</a:t>
            </a:r>
            <a:r>
              <a:rPr lang="en-GB" dirty="0"/>
              <a:t>A logical grouping. Checking code quality before continuing.</a:t>
            </a:r>
          </a:p>
          <a:p>
            <a:r>
              <a:rPr lang="en-GB" sz="1200" b="1" kern="1200" dirty="0">
                <a:solidFill>
                  <a:schemeClr val="tx1"/>
                </a:solidFill>
                <a:latin typeface="Montserrat" panose="00000500000000000000" pitchFamily="2" charset="0"/>
                <a:ea typeface="+mn-ea"/>
                <a:cs typeface="+mn-cs"/>
              </a:rPr>
              <a:t>parallel { ... }			</a:t>
            </a:r>
            <a:r>
              <a:rPr lang="en-GB" sz="1200" b="0" kern="1200" dirty="0">
                <a:solidFill>
                  <a:schemeClr val="tx1"/>
                </a:solidFill>
                <a:latin typeface="Montserrat" panose="00000500000000000000" pitchFamily="2" charset="0"/>
                <a:ea typeface="+mn-ea"/>
                <a:cs typeface="+mn-cs"/>
              </a:rPr>
              <a:t>R</a:t>
            </a:r>
            <a:r>
              <a:rPr lang="en-GB" dirty="0"/>
              <a:t>un the stages </a:t>
            </a:r>
            <a:r>
              <a:rPr lang="en-GB" b="0" dirty="0"/>
              <a:t>concurrently</a:t>
            </a:r>
            <a:r>
              <a:rPr lang="en-GB" dirty="0"/>
              <a:t>.</a:t>
            </a:r>
            <a:br>
              <a:rPr lang="en-GB" dirty="0"/>
            </a:br>
            <a:endParaRPr lang="en-GB" dirty="0"/>
          </a:p>
          <a:p>
            <a:r>
              <a:rPr lang="en-GB" sz="1200" b="1" kern="1200" dirty="0">
                <a:solidFill>
                  <a:schemeClr val="tx1"/>
                </a:solidFill>
                <a:latin typeface="Montserrat" panose="00000500000000000000" pitchFamily="2" charset="0"/>
                <a:ea typeface="+mn-ea"/>
                <a:cs typeface="+mn-cs"/>
              </a:rPr>
              <a:t>stage('Unit Tests')		</a:t>
            </a:r>
            <a:r>
              <a:rPr lang="en-GB" sz="1200" b="1" kern="1200" dirty="0" err="1">
                <a:solidFill>
                  <a:schemeClr val="tx1"/>
                </a:solidFill>
                <a:latin typeface="Montserrat" panose="00000500000000000000" pitchFamily="2" charset="0"/>
                <a:ea typeface="+mn-ea"/>
                <a:cs typeface="+mn-cs"/>
              </a:rPr>
              <a:t>sh</a:t>
            </a:r>
            <a:r>
              <a:rPr lang="en-GB" sz="1200" b="1" kern="1200" dirty="0">
                <a:solidFill>
                  <a:schemeClr val="tx1"/>
                </a:solidFill>
                <a:latin typeface="Montserrat" panose="00000500000000000000" pitchFamily="2" charset="0"/>
                <a:ea typeface="+mn-ea"/>
                <a:cs typeface="+mn-cs"/>
              </a:rPr>
              <a:t> '</a:t>
            </a:r>
            <a:r>
              <a:rPr lang="en-GB" sz="1200" b="1" kern="1200" dirty="0" err="1">
                <a:solidFill>
                  <a:schemeClr val="tx1"/>
                </a:solidFill>
                <a:latin typeface="Montserrat" panose="00000500000000000000" pitchFamily="2" charset="0"/>
                <a:ea typeface="+mn-ea"/>
                <a:cs typeface="+mn-cs"/>
              </a:rPr>
              <a:t>mvn</a:t>
            </a:r>
            <a:r>
              <a:rPr lang="en-GB" sz="1200" b="1" kern="1200" dirty="0">
                <a:solidFill>
                  <a:schemeClr val="tx1"/>
                </a:solidFill>
                <a:latin typeface="Montserrat" panose="00000500000000000000" pitchFamily="2" charset="0"/>
                <a:ea typeface="+mn-ea"/>
                <a:cs typeface="+mn-cs"/>
              </a:rPr>
              <a:t> test'</a:t>
            </a:r>
            <a:r>
              <a:rPr lang="en-GB" sz="1200" kern="1200" dirty="0">
                <a:solidFill>
                  <a:schemeClr val="tx1"/>
                </a:solidFill>
                <a:latin typeface="Montserrat" panose="00000500000000000000" pitchFamily="2" charset="0"/>
                <a:ea typeface="+mn-ea"/>
                <a:cs typeface="+mn-cs"/>
              </a:rPr>
              <a:t>	  </a:t>
            </a:r>
            <a:r>
              <a:rPr lang="en-GB" dirty="0"/>
              <a:t>Runs Maven unit tests.. Fails the pipeline if any test fails</a:t>
            </a:r>
            <a:br>
              <a:rPr lang="en-GB" dirty="0"/>
            </a:br>
            <a:endParaRPr lang="en-GB" dirty="0"/>
          </a:p>
          <a:p>
            <a:pPr rtl="0"/>
            <a:r>
              <a:rPr lang="en-GB" sz="1200" b="1" kern="1200" dirty="0">
                <a:solidFill>
                  <a:schemeClr val="tx1"/>
                </a:solidFill>
                <a:latin typeface="Montserrat" panose="00000500000000000000" pitchFamily="2" charset="0"/>
                <a:ea typeface="+mn-ea"/>
                <a:cs typeface="+mn-cs"/>
              </a:rPr>
              <a:t>stage('Linting')		</a:t>
            </a:r>
            <a:r>
              <a:rPr lang="en-GB" sz="1200" b="1" kern="1200" dirty="0" err="1">
                <a:solidFill>
                  <a:schemeClr val="tx1"/>
                </a:solidFill>
                <a:latin typeface="Montserrat" panose="00000500000000000000" pitchFamily="2" charset="0"/>
                <a:ea typeface="+mn-ea"/>
                <a:cs typeface="+mn-cs"/>
              </a:rPr>
              <a:t>sh</a:t>
            </a:r>
            <a:r>
              <a:rPr lang="en-GB" sz="1200" b="1" kern="1200" dirty="0">
                <a:solidFill>
                  <a:schemeClr val="tx1"/>
                </a:solidFill>
                <a:latin typeface="Montserrat" panose="00000500000000000000" pitchFamily="2" charset="0"/>
                <a:ea typeface="+mn-ea"/>
                <a:cs typeface="+mn-cs"/>
              </a:rPr>
              <a:t> '</a:t>
            </a:r>
            <a:r>
              <a:rPr lang="en-GB" sz="1200" b="1" kern="1200" dirty="0" err="1">
                <a:solidFill>
                  <a:schemeClr val="tx1"/>
                </a:solidFill>
                <a:latin typeface="Montserrat" panose="00000500000000000000" pitchFamily="2" charset="0"/>
                <a:ea typeface="+mn-ea"/>
                <a:cs typeface="+mn-cs"/>
              </a:rPr>
              <a:t>mvn</a:t>
            </a:r>
            <a:r>
              <a:rPr lang="en-GB" sz="1200" b="1" kern="1200" dirty="0">
                <a:solidFill>
                  <a:schemeClr val="tx1"/>
                </a:solidFill>
                <a:latin typeface="Montserrat" panose="00000500000000000000" pitchFamily="2" charset="0"/>
                <a:ea typeface="+mn-ea"/>
                <a:cs typeface="+mn-cs"/>
              </a:rPr>
              <a:t> </a:t>
            </a:r>
            <a:r>
              <a:rPr lang="en-GB" sz="1200" b="1" kern="1200" dirty="0" err="1">
                <a:solidFill>
                  <a:schemeClr val="tx1"/>
                </a:solidFill>
                <a:latin typeface="Montserrat" panose="00000500000000000000" pitchFamily="2" charset="0"/>
                <a:ea typeface="+mn-ea"/>
                <a:cs typeface="+mn-cs"/>
              </a:rPr>
              <a:t>checkstyle:check</a:t>
            </a:r>
            <a:r>
              <a:rPr lang="en-GB" sz="1200" b="1" kern="1200" dirty="0">
                <a:solidFill>
                  <a:schemeClr val="tx1"/>
                </a:solidFill>
                <a:latin typeface="Montserrat" panose="00000500000000000000" pitchFamily="2" charset="0"/>
                <a:ea typeface="+mn-ea"/>
                <a:cs typeface="+mn-cs"/>
              </a:rPr>
              <a:t>'</a:t>
            </a:r>
            <a:r>
              <a:rPr lang="en-GB" sz="1200" kern="1200" dirty="0">
                <a:solidFill>
                  <a:schemeClr val="tx1"/>
                </a:solidFill>
                <a:latin typeface="Montserrat" panose="00000500000000000000" pitchFamily="2" charset="0"/>
                <a:ea typeface="+mn-ea"/>
                <a:cs typeface="+mn-cs"/>
              </a:rPr>
              <a:t>	</a:t>
            </a:r>
            <a:r>
              <a:rPr lang="en-GB" dirty="0"/>
              <a:t>Checks code formatting and style rules (bad naming, long methods, missing comments, poor structure)</a:t>
            </a:r>
          </a:p>
          <a:p>
            <a:br>
              <a:rPr lang="en-GB" dirty="0"/>
            </a:br>
            <a:r>
              <a:rPr lang="en-GB" b="1" dirty="0"/>
              <a:t>About linting:</a:t>
            </a:r>
          </a:p>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reads a rules file usually called </a:t>
            </a:r>
            <a:r>
              <a:rPr lang="en-GB" sz="1200" b="1" kern="1200" dirty="0">
                <a:solidFill>
                  <a:schemeClr val="tx1"/>
                </a:solidFill>
                <a:latin typeface="Montserrat" panose="00000500000000000000" pitchFamily="2" charset="0"/>
                <a:ea typeface="+mn-ea"/>
                <a:cs typeface="+mn-cs"/>
              </a:rPr>
              <a:t>checkstyle.xml</a:t>
            </a:r>
            <a:endParaRPr lang="en-GB" b="1" dirty="0"/>
          </a:p>
          <a:p>
            <a:r>
              <a:rPr lang="en-GB" dirty="0"/>
              <a:t>bad naming (like variables called </a:t>
            </a:r>
            <a:r>
              <a:rPr lang="en-GB" sz="1200" kern="1200" dirty="0">
                <a:solidFill>
                  <a:schemeClr val="tx1"/>
                </a:solidFill>
                <a:latin typeface="Montserrat" panose="00000500000000000000" pitchFamily="2" charset="0"/>
                <a:ea typeface="+mn-ea"/>
                <a:cs typeface="+mn-cs"/>
              </a:rPr>
              <a:t>x1</a:t>
            </a:r>
            <a:r>
              <a:rPr lang="en-GB" dirty="0"/>
              <a:t> or </a:t>
            </a:r>
            <a:r>
              <a:rPr lang="en-GB" sz="1200" kern="1200" dirty="0" err="1">
                <a:solidFill>
                  <a:schemeClr val="tx1"/>
                </a:solidFill>
                <a:latin typeface="Montserrat" panose="00000500000000000000" pitchFamily="2" charset="0"/>
                <a:ea typeface="+mn-ea"/>
                <a:cs typeface="+mn-cs"/>
              </a:rPr>
              <a:t>tmp</a:t>
            </a:r>
            <a:r>
              <a:rPr lang="en-GB" dirty="0"/>
              <a:t>)</a:t>
            </a:r>
          </a:p>
          <a:p>
            <a:r>
              <a:rPr lang="en-GB" dirty="0"/>
              <a:t>inconsistent indentation</a:t>
            </a:r>
          </a:p>
          <a:p>
            <a:r>
              <a:rPr lang="en-GB" dirty="0"/>
              <a:t>missing Javadoc comments</a:t>
            </a:r>
          </a:p>
          <a:p>
            <a:r>
              <a:rPr lang="en-GB" dirty="0"/>
              <a:t>overly long methods</a:t>
            </a:r>
          </a:p>
          <a:p>
            <a:r>
              <a:rPr lang="en-GB" dirty="0"/>
              <a:t>overly complex classes</a:t>
            </a:r>
          </a:p>
          <a:p>
            <a:r>
              <a:rPr lang="en-GB" dirty="0"/>
              <a:t>unused imports</a:t>
            </a:r>
          </a:p>
          <a:p>
            <a:r>
              <a:rPr lang="en-GB" dirty="0"/>
              <a:t>poor formatting</a:t>
            </a:r>
          </a:p>
          <a:p>
            <a:r>
              <a:rPr lang="en-GB" dirty="0"/>
              <a:t>breaking agreed coding standards</a:t>
            </a:r>
          </a:p>
          <a:p>
            <a:r>
              <a:rPr lang="en-GB" dirty="0"/>
              <a:t>It does </a:t>
            </a:r>
            <a:r>
              <a:rPr lang="en-GB" b="1" dirty="0"/>
              <a:t>not</a:t>
            </a:r>
            <a:r>
              <a:rPr lang="en-GB" dirty="0"/>
              <a:t> test whether the code works.</a:t>
            </a:r>
            <a:br>
              <a:rPr lang="en-GB" dirty="0"/>
            </a:br>
            <a:r>
              <a:rPr lang="en-GB" dirty="0"/>
              <a:t>It checks whether the code is </a:t>
            </a:r>
            <a:r>
              <a:rPr lang="en-GB" b="1" dirty="0"/>
              <a:t>written well</a:t>
            </a:r>
            <a:r>
              <a:rPr lang="en-GB" dirty="0"/>
              <a:t>.</a:t>
            </a:r>
          </a:p>
          <a:p>
            <a:endParaRPr lang="en-GB" b="1" dirty="0"/>
          </a:p>
          <a:p>
            <a:r>
              <a:rPr lang="en-GB" b="1" dirty="0"/>
              <a:t>What </a:t>
            </a:r>
            <a:r>
              <a:rPr lang="en-GB" sz="1200" b="1" kern="1200" dirty="0" err="1">
                <a:solidFill>
                  <a:schemeClr val="tx1"/>
                </a:solidFill>
                <a:latin typeface="Montserrat" panose="00000500000000000000" pitchFamily="2" charset="0"/>
                <a:ea typeface="+mn-ea"/>
                <a:cs typeface="+mn-cs"/>
              </a:rPr>
              <a:t>mvn</a:t>
            </a:r>
            <a:r>
              <a:rPr lang="en-GB" sz="1200" b="1" kern="1200" dirty="0">
                <a:solidFill>
                  <a:schemeClr val="tx1"/>
                </a:solidFill>
                <a:latin typeface="Montserrat" panose="00000500000000000000" pitchFamily="2" charset="0"/>
                <a:ea typeface="+mn-ea"/>
                <a:cs typeface="+mn-cs"/>
              </a:rPr>
              <a:t> </a:t>
            </a:r>
            <a:r>
              <a:rPr lang="en-GB" sz="1200" b="1" kern="1200" dirty="0" err="1">
                <a:solidFill>
                  <a:schemeClr val="tx1"/>
                </a:solidFill>
                <a:latin typeface="Montserrat" panose="00000500000000000000" pitchFamily="2" charset="0"/>
                <a:ea typeface="+mn-ea"/>
                <a:cs typeface="+mn-cs"/>
              </a:rPr>
              <a:t>checkstyle:check</a:t>
            </a:r>
            <a:r>
              <a:rPr lang="en-GB" b="1" dirty="0"/>
              <a:t> does</a:t>
            </a:r>
          </a:p>
          <a:p>
            <a:r>
              <a:rPr lang="en-GB" dirty="0"/>
              <a:t>When you run:</a:t>
            </a:r>
          </a:p>
          <a:p>
            <a:pPr rtl="0"/>
            <a:r>
              <a:rPr lang="en-GB" sz="1200" kern="1200" dirty="0" err="1">
                <a:solidFill>
                  <a:schemeClr val="tx1"/>
                </a:solidFill>
                <a:latin typeface="Montserrat" panose="00000500000000000000" pitchFamily="2" charset="0"/>
                <a:ea typeface="+mn-ea"/>
                <a:cs typeface="+mn-cs"/>
              </a:rPr>
              <a:t>mvn</a:t>
            </a:r>
            <a:r>
              <a:rPr lang="en-GB" sz="1200" kern="1200" dirty="0">
                <a:solidFill>
                  <a:schemeClr val="tx1"/>
                </a:solidFill>
                <a:latin typeface="Montserrat" panose="00000500000000000000" pitchFamily="2" charset="0"/>
                <a:ea typeface="+mn-ea"/>
                <a:cs typeface="+mn-cs"/>
              </a:rPr>
              <a:t> </a:t>
            </a:r>
            <a:r>
              <a:rPr lang="en-GB" sz="1200" kern="1200" dirty="0" err="1">
                <a:solidFill>
                  <a:schemeClr val="tx1"/>
                </a:solidFill>
                <a:latin typeface="Montserrat" panose="00000500000000000000" pitchFamily="2" charset="0"/>
                <a:ea typeface="+mn-ea"/>
                <a:cs typeface="+mn-cs"/>
              </a:rPr>
              <a:t>checkstyle:check</a:t>
            </a:r>
            <a:endParaRPr lang="en-GB" sz="1200" kern="1200" dirty="0">
              <a:solidFill>
                <a:schemeClr val="tx1"/>
              </a:solidFill>
              <a:latin typeface="Montserrat" panose="00000500000000000000" pitchFamily="2" charset="0"/>
              <a:ea typeface="+mn-ea"/>
              <a:cs typeface="+mn-cs"/>
            </a:endParaRPr>
          </a:p>
          <a:p>
            <a:r>
              <a:rPr lang="en-GB" dirty="0"/>
              <a:t>Maven runs the </a:t>
            </a:r>
            <a:r>
              <a:rPr lang="en-GB" dirty="0" err="1"/>
              <a:t>Checkstyle</a:t>
            </a:r>
            <a:r>
              <a:rPr lang="en-GB" dirty="0"/>
              <a:t> plugin, which:</a:t>
            </a:r>
          </a:p>
          <a:p>
            <a:r>
              <a:rPr lang="en-GB" dirty="0"/>
              <a:t>scans all your Java source code</a:t>
            </a:r>
          </a:p>
          <a:p>
            <a:r>
              <a:rPr lang="en-GB" dirty="0"/>
              <a:t>reports any rule violations</a:t>
            </a:r>
          </a:p>
          <a:p>
            <a:r>
              <a:rPr lang="en-GB" dirty="0"/>
              <a:t>fails the build if violations exist</a:t>
            </a:r>
          </a:p>
          <a:p>
            <a:r>
              <a:rPr lang="en-GB" dirty="0"/>
              <a:t>In CI pipelines like Jenkins, this acts as a </a:t>
            </a:r>
            <a:r>
              <a:rPr lang="en-GB" b="1" dirty="0"/>
              <a:t>quality gate</a:t>
            </a:r>
            <a:r>
              <a:rPr lang="en-GB" dirty="0"/>
              <a:t>:</a:t>
            </a:r>
          </a:p>
          <a:p>
            <a:r>
              <a:rPr lang="en-GB" dirty="0"/>
              <a:t>code must be clean as well as correct.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Tree>
    <p:extLst>
      <p:ext uri="{BB962C8B-B14F-4D97-AF65-F5344CB8AC3E}">
        <p14:creationId xmlns:p14="http://schemas.microsoft.com/office/powerpoint/2010/main" val="3726747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Conditional stages let you use one Jenkinsfile for multiple environments or branches. For instance, feature branches may skip deployment, while main and release branches trigger it.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Tree>
    <p:extLst>
      <p:ext uri="{BB962C8B-B14F-4D97-AF65-F5344CB8AC3E}">
        <p14:creationId xmlns:p14="http://schemas.microsoft.com/office/powerpoint/2010/main" val="1352597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23E2-14A0-E846-DE42-0B9FB7D0C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A399D-8992-ACD8-9773-72DFE51AA9D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EF88147-9F95-56B6-9189-D28E70E6A66F}"/>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Conditional stages let you use one Jenkinsfile for multiple environments or branches. For instance, feature branches may skip deployment, while main and release branches trigger it.</a:t>
            </a:r>
          </a:p>
          <a:p>
            <a:endParaRPr lang="en-GB" dirty="0"/>
          </a:p>
        </p:txBody>
      </p:sp>
      <p:sp>
        <p:nvSpPr>
          <p:cNvPr id="4" name="Slide Number Placeholder 3">
            <a:extLst>
              <a:ext uri="{FF2B5EF4-FFF2-40B4-BE49-F238E27FC236}">
                <a16:creationId xmlns:a16="http://schemas.microsoft.com/office/drawing/2014/main" id="{E6473546-89AD-331E-53ED-129080EA35FA}"/>
              </a:ext>
            </a:extLst>
          </p:cNvPr>
          <p:cNvSpPr>
            <a:spLocks noGrp="1"/>
          </p:cNvSpPr>
          <p:nvPr>
            <p:ph type="sldNum" sz="quarter" idx="5"/>
          </p:nvPr>
        </p:nvSpPr>
        <p:spPr/>
        <p:txBody>
          <a:bodyPr/>
          <a:lstStyle/>
          <a:p>
            <a:fld id="{548901C6-1DA1-FB44-ABEE-06A0FEB7738E}" type="slidenum">
              <a:rPr lang="en-GB" smtClean="0"/>
              <a:pPr/>
              <a:t>11</a:t>
            </a:fld>
            <a:endParaRPr lang="en-GB" dirty="0"/>
          </a:p>
        </p:txBody>
      </p:sp>
    </p:spTree>
    <p:extLst>
      <p:ext uri="{BB962C8B-B14F-4D97-AF65-F5344CB8AC3E}">
        <p14:creationId xmlns:p14="http://schemas.microsoft.com/office/powerpoint/2010/main" val="96568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Even in automated pipelines, some steps need human review. Manual approvals are safety gates that prevent accidental deployment to high-risk environments.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dirty="0"/>
          </a:p>
        </p:txBody>
      </p:sp>
    </p:spTree>
    <p:extLst>
      <p:ext uri="{BB962C8B-B14F-4D97-AF65-F5344CB8AC3E}">
        <p14:creationId xmlns:p14="http://schemas.microsoft.com/office/powerpoint/2010/main" val="354647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Choice parameters are particularly useful for environments (dev/test/prod). Boolean flags can enable optional steps like extra tests or debugging features.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Tree>
    <p:extLst>
      <p:ext uri="{BB962C8B-B14F-4D97-AF65-F5344CB8AC3E}">
        <p14:creationId xmlns:p14="http://schemas.microsoft.com/office/powerpoint/2010/main" val="2036330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Parameters make your Jenkinsfile reusable across multiple situations. Instead of multiple nearly identical jobs, one parameterized pipeline can cover all cases.</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Example:</a:t>
            </a:r>
          </a:p>
          <a:p>
            <a:r>
              <a:rPr lang="en-GB" sz="1200" b="1" dirty="0">
                <a:solidFill>
                  <a:srgbClr val="000000"/>
                </a:solidFill>
                <a:highlight>
                  <a:srgbClr val="FFFFFF"/>
                </a:highlight>
                <a:latin typeface="Cascadia Mono" panose="020B0609020000020004" pitchFamily="49" charset="0"/>
              </a:rPr>
              <a:t>pipeline {</a:t>
            </a:r>
          </a:p>
          <a:p>
            <a:r>
              <a:rPr lang="en-GB" sz="1200" b="1" dirty="0">
                <a:solidFill>
                  <a:srgbClr val="000000"/>
                </a:solidFill>
                <a:highlight>
                  <a:srgbClr val="FFFFFF"/>
                </a:highlight>
                <a:latin typeface="Cascadia Mono" panose="020B0609020000020004" pitchFamily="49" charset="0"/>
              </a:rPr>
              <a:t>    agent any</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parameters {</a:t>
            </a:r>
          </a:p>
          <a:p>
            <a:r>
              <a:rPr lang="en-GB" sz="1200" b="1" dirty="0">
                <a:solidFill>
                  <a:srgbClr val="000000"/>
                </a:solidFill>
                <a:highlight>
                  <a:srgbClr val="FFFFFF"/>
                </a:highlight>
                <a:latin typeface="Cascadia Mono" panose="020B0609020000020004" pitchFamily="49" charset="0"/>
              </a:rPr>
              <a:t>        choice(</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'ENV'</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choices: [</a:t>
            </a:r>
            <a:r>
              <a:rPr lang="en-GB" sz="1200" b="1" dirty="0">
                <a:solidFill>
                  <a:srgbClr val="A31515"/>
                </a:solidFill>
                <a:highlight>
                  <a:srgbClr val="FFFFFF"/>
                </a:highlight>
                <a:latin typeface="Cascadia Mono" panose="020B0609020000020004" pitchFamily="49" charset="0"/>
              </a:rPr>
              <a:t>'dev'</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'test'</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'prod'</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'Target environment'</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string(</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'VERSION'</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defaultValue</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'1.0.0'</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'Application version'</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booleanParam</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'RUN_EXTRA_TESTS'</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defaultValue</a:t>
            </a:r>
            <a:r>
              <a:rPr lang="en-GB" sz="1200" b="1" dirty="0">
                <a:solidFill>
                  <a:srgbClr val="000000"/>
                </a:solidFill>
                <a:highlight>
                  <a:srgbClr val="FFFFFF"/>
                </a:highlight>
                <a:latin typeface="Cascadia Mono" panose="020B0609020000020004" pitchFamily="49" charset="0"/>
              </a:rPr>
              <a:t>: </a:t>
            </a:r>
            <a:r>
              <a:rPr lang="en-GB" sz="1200" b="1" dirty="0">
                <a:solidFill>
                  <a:srgbClr val="0000FF"/>
                </a:solidFill>
                <a:highlight>
                  <a:srgbClr val="FFFFFF"/>
                </a:highlight>
                <a:latin typeface="Cascadia Mono" panose="020B0609020000020004" pitchFamily="49" charset="0"/>
              </a:rPr>
              <a:t>false</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'Enable extra tests'</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stages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'Build'</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"Building version ${VERSION}"</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'Test'</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"Running tests in ${ENV}"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'Deploy'</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"Deploying ${VERSION} to ${ENV}"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Tree>
    <p:extLst>
      <p:ext uri="{BB962C8B-B14F-4D97-AF65-F5344CB8AC3E}">
        <p14:creationId xmlns:p14="http://schemas.microsoft.com/office/powerpoint/2010/main" val="2842077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Example: deploy stage runs automatically for dev/test but pauses for approval in production. This is a common pattern in enterprise pipelines.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Tree>
    <p:extLst>
      <p:ext uri="{BB962C8B-B14F-4D97-AF65-F5344CB8AC3E}">
        <p14:creationId xmlns:p14="http://schemas.microsoft.com/office/powerpoint/2010/main" val="4035857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The goal of this chapter was to help you understand that Jenkins pipelines are not about complexity, but about </a:t>
            </a:r>
            <a:r>
              <a:rPr lang="en-GB" b="1" dirty="0"/>
              <a:t>clarity, reproducibility, and safe automation</a:t>
            </a:r>
            <a:r>
              <a:rPr lang="en-GB" dirty="0"/>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Tree>
    <p:extLst>
      <p:ext uri="{BB962C8B-B14F-4D97-AF65-F5344CB8AC3E}">
        <p14:creationId xmlns:p14="http://schemas.microsoft.com/office/powerpoint/2010/main" val="42505874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19.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10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3640323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69334983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7430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3298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4094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4457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9132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749363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0385926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14873442"/>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305588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17007425"/>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166681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606277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54979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8892509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22699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893264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62690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952731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680138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136175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72539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91857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68724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73587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07775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29022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414383036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779356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0717529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0694070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userDrawn="1"/>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2536898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65830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7800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380824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448942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269695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792204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028437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83566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58264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771593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975715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4078032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51146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216210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44179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352927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603946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723026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605239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219148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107806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486238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704652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53464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841213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86495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88957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46905344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99351302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2954400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97354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8601643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dirty="0"/>
              <a:t>Housekeeping</a:t>
            </a:r>
            <a:endParaRPr lang="en-GB" noProof="0" dirty="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38794142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6568359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07033483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40900148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425839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188506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6785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14511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385691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20723907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2635893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39333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55665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64814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9064336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259803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99220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398510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38007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24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9713007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100298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742156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578396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0357348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481500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614564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83742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82741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574872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832888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9395154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46302576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9692917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6609244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19771545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75698405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93538855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430007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77067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114381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382126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726428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3933804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2340633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32918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1890044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803295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183043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55904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92897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62657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560670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706416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096371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032442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479837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326982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907917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2581518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0834363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952501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120764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168156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354603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68745874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5042870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966265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5930138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9773864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437395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67487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864364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773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28348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677968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image" Target="../media/image1.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theme" Target="../theme/theme2.xml"/><Relationship Id="rId8"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9" Type="http://schemas.openxmlformats.org/officeDocument/2006/relationships/image" Target="../media/image1.png"/><Relationship Id="rId21" Type="http://schemas.openxmlformats.org/officeDocument/2006/relationships/slideLayout" Target="../slideLayouts/slideLayout87.xml"/><Relationship Id="rId34" Type="http://schemas.openxmlformats.org/officeDocument/2006/relationships/slideLayout" Target="../slideLayouts/slideLayout100.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theme" Target="../theme/theme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8" Type="http://schemas.openxmlformats.org/officeDocument/2006/relationships/slideLayout" Target="../slideLayouts/slideLayout74.xml"/><Relationship Id="rId3" Type="http://schemas.openxmlformats.org/officeDocument/2006/relationships/slideLayout" Target="../slideLayouts/slideLayout6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 Type="http://schemas.openxmlformats.org/officeDocument/2006/relationships/slideLayout" Target="../slideLayouts/slideLayout106.xml"/><Relationship Id="rId21" Type="http://schemas.openxmlformats.org/officeDocument/2006/relationships/slideLayout" Target="../slideLayouts/slideLayout124.xml"/><Relationship Id="rId34" Type="http://schemas.openxmlformats.org/officeDocument/2006/relationships/image" Target="../media/image1.png"/><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theme" Target="../theme/theme4.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slideLayout" Target="../slideLayouts/slideLayout123.xml"/><Relationship Id="rId29" Type="http://schemas.openxmlformats.org/officeDocument/2006/relationships/slideLayout" Target="../slideLayouts/slideLayout132.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8" Type="http://schemas.openxmlformats.org/officeDocument/2006/relationships/slideLayout" Target="../slideLayouts/slideLayout1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image" Target="../media/image1.png"/><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image" Target="../media/image10.svg"/><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image" Target="../media/image9.png"/><Relationship Id="rId5" Type="http://schemas.openxmlformats.org/officeDocument/2006/relationships/slideLayout" Target="../slideLayouts/slideLayout140.xml"/><Relationship Id="rId10" Type="http://schemas.openxmlformats.org/officeDocument/2006/relationships/theme" Target="../theme/theme5.xml"/><Relationship Id="rId4" Type="http://schemas.openxmlformats.org/officeDocument/2006/relationships/slideLayout" Target="../slideLayouts/slideLayout139.xml"/><Relationship Id="rId9"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4454" r:id="rId1"/>
    <p:sldLayoutId id="2147484442" r:id="rId2"/>
    <p:sldLayoutId id="2147483806" r:id="rId3"/>
    <p:sldLayoutId id="2147484338" r:id="rId4"/>
    <p:sldLayoutId id="2147483779" r:id="rId5"/>
    <p:sldLayoutId id="2147483789" r:id="rId6"/>
    <p:sldLayoutId id="2147483788" r:id="rId7"/>
    <p:sldLayoutId id="2147483778" r:id="rId8"/>
    <p:sldLayoutId id="2147484218" r:id="rId9"/>
    <p:sldLayoutId id="2147484219" r:id="rId10"/>
    <p:sldLayoutId id="2147483696" r:id="rId11"/>
    <p:sldLayoutId id="2147483790" r:id="rId12"/>
    <p:sldLayoutId id="2147484314" r:id="rId13"/>
    <p:sldLayoutId id="2147483791" r:id="rId14"/>
    <p:sldLayoutId id="2147483802" r:id="rId15"/>
    <p:sldLayoutId id="2147484315" r:id="rId16"/>
    <p:sldLayoutId id="2147484316" r:id="rId17"/>
    <p:sldLayoutId id="2147484322" r:id="rId18"/>
    <p:sldLayoutId id="2147484323" r:id="rId19"/>
    <p:sldLayoutId id="2147484324" r:id="rId20"/>
    <p:sldLayoutId id="2147484317" r:id="rId21"/>
    <p:sldLayoutId id="2147484325" r:id="rId22"/>
    <p:sldLayoutId id="2147484328" r:id="rId23"/>
    <p:sldLayoutId id="2147484318" r:id="rId24"/>
    <p:sldLayoutId id="2147484327" r:id="rId25"/>
    <p:sldLayoutId id="2147484334" r:id="rId26"/>
    <p:sldLayoutId id="2147484335" r:id="rId27"/>
    <p:sldLayoutId id="2147484326" r:id="rId28"/>
    <p:sldLayoutId id="2147484319" r:id="rId29"/>
    <p:sldLayoutId id="2147484336" r:id="rId30"/>
    <p:sldLayoutId id="2147484337" r:id="rId31"/>
    <p:sldLayoutId id="214748444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1" userDrawn="1">
          <p15:clr>
            <a:srgbClr val="F26B43"/>
          </p15:clr>
        </p15:guide>
        <p15:guide id="6" pos="1345" userDrawn="1">
          <p15:clr>
            <a:srgbClr val="F26B43"/>
          </p15:clr>
        </p15:guide>
        <p15:guide id="7" pos="1460" userDrawn="1">
          <p15:clr>
            <a:srgbClr val="F26B43"/>
          </p15:clr>
        </p15:guide>
        <p15:guide id="8" pos="1955"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3" userDrawn="1">
          <p15:clr>
            <a:srgbClr val="F26B43"/>
          </p15:clr>
        </p15:guide>
        <p15:guide id="15" pos="3897" userDrawn="1">
          <p15:clr>
            <a:srgbClr val="F26B43"/>
          </p15:clr>
        </p15:guide>
        <p15:guide id="16" pos="4392" userDrawn="1">
          <p15:clr>
            <a:srgbClr val="F26B43"/>
          </p15:clr>
        </p15:guide>
        <p15:guide id="17" pos="4507" userDrawn="1">
          <p15:clr>
            <a:srgbClr val="F26B43"/>
          </p15:clr>
        </p15:guide>
        <p15:guide id="18" pos="5001" userDrawn="1">
          <p15:clr>
            <a:srgbClr val="F26B43"/>
          </p15:clr>
        </p15:guide>
        <p15:guide id="19" pos="5115" userDrawn="1">
          <p15:clr>
            <a:srgbClr val="F26B43"/>
          </p15:clr>
        </p15:guide>
        <p15:guide id="20" pos="5611" userDrawn="1">
          <p15:clr>
            <a:srgbClr val="F26B43"/>
          </p15:clr>
        </p15:guide>
        <p15:guide id="21" pos="5725" userDrawn="1">
          <p15:clr>
            <a:srgbClr val="F26B43"/>
          </p15:clr>
        </p15:guide>
        <p15:guide id="22" pos="6220" userDrawn="1">
          <p15:clr>
            <a:srgbClr val="F26B43"/>
          </p15:clr>
        </p15:guide>
        <p15:guide id="23" pos="6335" userDrawn="1">
          <p15:clr>
            <a:srgbClr val="F26B43"/>
          </p15:clr>
        </p15:guide>
        <p15:guide id="24" pos="6829" userDrawn="1">
          <p15:clr>
            <a:srgbClr val="F26B43"/>
          </p15:clr>
        </p15:guide>
        <p15:guide id="25" pos="6943" userDrawn="1">
          <p15:clr>
            <a:srgbClr val="F26B43"/>
          </p15:clr>
        </p15:guide>
        <p15:guide id="26" pos="7439"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315793142"/>
      </p:ext>
    </p:extLst>
  </p:cSld>
  <p:clrMap bg1="lt1" tx1="dk1" bg2="lt2" tx2="dk2" accent1="accent1" accent2="accent2" accent3="accent3" accent4="accent4" accent5="accent5" accent6="accent6" hlink="hlink" folHlink="folHlink"/>
  <p:sldLayoutIdLst>
    <p:sldLayoutId id="2147484446" r:id="rId1"/>
    <p:sldLayoutId id="2147484444" r:id="rId2"/>
    <p:sldLayoutId id="2147484342" r:id="rId3"/>
    <p:sldLayoutId id="2147484344" r:id="rId4"/>
    <p:sldLayoutId id="2147484345" r:id="rId5"/>
    <p:sldLayoutId id="2147484346" r:id="rId6"/>
    <p:sldLayoutId id="2147484347" r:id="rId7"/>
    <p:sldLayoutId id="2147484348" r:id="rId8"/>
    <p:sldLayoutId id="2147484349" r:id="rId9"/>
    <p:sldLayoutId id="2147484350" r:id="rId10"/>
    <p:sldLayoutId id="2147484351" r:id="rId11"/>
    <p:sldLayoutId id="2147484352" r:id="rId12"/>
    <p:sldLayoutId id="2147484353" r:id="rId13"/>
    <p:sldLayoutId id="2147484354" r:id="rId14"/>
    <p:sldLayoutId id="2147484355" r:id="rId15"/>
    <p:sldLayoutId id="2147484356" r:id="rId16"/>
    <p:sldLayoutId id="2147484357" r:id="rId17"/>
    <p:sldLayoutId id="2147484358" r:id="rId18"/>
    <p:sldLayoutId id="2147484359" r:id="rId19"/>
    <p:sldLayoutId id="2147484360" r:id="rId20"/>
    <p:sldLayoutId id="2147484361" r:id="rId21"/>
    <p:sldLayoutId id="2147484362" r:id="rId22"/>
    <p:sldLayoutId id="2147484363" r:id="rId23"/>
    <p:sldLayoutId id="2147484364" r:id="rId24"/>
    <p:sldLayoutId id="2147484365" r:id="rId25"/>
    <p:sldLayoutId id="2147484366" r:id="rId26"/>
    <p:sldLayoutId id="2147484367" r:id="rId27"/>
    <p:sldLayoutId id="2147484368" r:id="rId28"/>
    <p:sldLayoutId id="2147484369" r:id="rId29"/>
    <p:sldLayoutId id="2147484370" r:id="rId30"/>
    <p:sldLayoutId id="2147484371" r:id="rId31"/>
    <p:sldLayoutId id="2147484378" r:id="rId32"/>
    <p:sldLayoutId id="2147484449" r:id="rId33"/>
    <p:sldLayoutId id="2147484445"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05970405"/>
      </p:ext>
    </p:extLst>
  </p:cSld>
  <p:clrMap bg1="lt1" tx1="dk1" bg2="lt2" tx2="dk2" accent1="accent1" accent2="accent2" accent3="accent3" accent4="accent4" accent5="accent5" accent6="accent6" hlink="hlink" folHlink="folHlink"/>
  <p:sldLayoutIdLst>
    <p:sldLayoutId id="2147484448" r:id="rId1"/>
    <p:sldLayoutId id="2147484447" r:id="rId2"/>
    <p:sldLayoutId id="2147484407" r:id="rId3"/>
    <p:sldLayoutId id="2147484408" r:id="rId4"/>
    <p:sldLayoutId id="2147483975" r:id="rId5"/>
    <p:sldLayoutId id="2147484379" r:id="rId6"/>
    <p:sldLayoutId id="2147484380" r:id="rId7"/>
    <p:sldLayoutId id="2147484381" r:id="rId8"/>
    <p:sldLayoutId id="2147484382" r:id="rId9"/>
    <p:sldLayoutId id="2147484383" r:id="rId10"/>
    <p:sldLayoutId id="2147484384" r:id="rId11"/>
    <p:sldLayoutId id="2147484385" r:id="rId12"/>
    <p:sldLayoutId id="2147484386" r:id="rId13"/>
    <p:sldLayoutId id="2147484387" r:id="rId14"/>
    <p:sldLayoutId id="2147484388" r:id="rId15"/>
    <p:sldLayoutId id="2147484389" r:id="rId16"/>
    <p:sldLayoutId id="2147484390" r:id="rId17"/>
    <p:sldLayoutId id="2147484391" r:id="rId18"/>
    <p:sldLayoutId id="2147484392" r:id="rId19"/>
    <p:sldLayoutId id="2147484393" r:id="rId20"/>
    <p:sldLayoutId id="2147484394" r:id="rId21"/>
    <p:sldLayoutId id="2147484395" r:id="rId22"/>
    <p:sldLayoutId id="2147484396" r:id="rId23"/>
    <p:sldLayoutId id="2147484397" r:id="rId24"/>
    <p:sldLayoutId id="2147484398" r:id="rId25"/>
    <p:sldLayoutId id="2147484399" r:id="rId26"/>
    <p:sldLayoutId id="2147484400" r:id="rId27"/>
    <p:sldLayoutId id="2147484401" r:id="rId28"/>
    <p:sldLayoutId id="2147484402" r:id="rId29"/>
    <p:sldLayoutId id="2147484403" r:id="rId30"/>
    <p:sldLayoutId id="2147484404" r:id="rId31"/>
    <p:sldLayoutId id="2147484405" r:id="rId32"/>
    <p:sldLayoutId id="2147484406" r:id="rId33"/>
    <p:sldLayoutId id="2147484013" r:id="rId34"/>
    <p:sldLayoutId id="2147484409" r:id="rId35"/>
    <p:sldLayoutId id="2147484450" r:id="rId36"/>
    <p:sldLayoutId id="214748445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06996952"/>
      </p:ext>
    </p:extLst>
  </p:cSld>
  <p:clrMap bg1="lt1" tx1="dk1" bg2="lt2" tx2="dk2" accent1="accent1" accent2="accent2" accent3="accent3" accent4="accent4" accent5="accent5" accent6="accent6" hlink="hlink" folHlink="folHlink"/>
  <p:sldLayoutIdLst>
    <p:sldLayoutId id="2147484452" r:id="rId1"/>
    <p:sldLayoutId id="2147484411" r:id="rId2"/>
    <p:sldLayoutId id="2147484063" r:id="rId3"/>
    <p:sldLayoutId id="2147484412" r:id="rId4"/>
    <p:sldLayoutId id="2147484413" r:id="rId5"/>
    <p:sldLayoutId id="2147484414" r:id="rId6"/>
    <p:sldLayoutId id="2147484415" r:id="rId7"/>
    <p:sldLayoutId id="2147484416" r:id="rId8"/>
    <p:sldLayoutId id="2147484417" r:id="rId9"/>
    <p:sldLayoutId id="2147484418" r:id="rId10"/>
    <p:sldLayoutId id="2147484419" r:id="rId11"/>
    <p:sldLayoutId id="2147484420" r:id="rId12"/>
    <p:sldLayoutId id="2147484421" r:id="rId13"/>
    <p:sldLayoutId id="2147484422" r:id="rId14"/>
    <p:sldLayoutId id="2147484423" r:id="rId15"/>
    <p:sldLayoutId id="2147484424" r:id="rId16"/>
    <p:sldLayoutId id="2147484425" r:id="rId17"/>
    <p:sldLayoutId id="2147484426" r:id="rId18"/>
    <p:sldLayoutId id="2147484427" r:id="rId19"/>
    <p:sldLayoutId id="2147484428" r:id="rId20"/>
    <p:sldLayoutId id="2147484429" r:id="rId21"/>
    <p:sldLayoutId id="2147484430" r:id="rId22"/>
    <p:sldLayoutId id="2147484431" r:id="rId23"/>
    <p:sldLayoutId id="2147484432" r:id="rId24"/>
    <p:sldLayoutId id="2147484433" r:id="rId25"/>
    <p:sldLayoutId id="2147484434" r:id="rId26"/>
    <p:sldLayoutId id="2147484435" r:id="rId27"/>
    <p:sldLayoutId id="2147484436" r:id="rId28"/>
    <p:sldLayoutId id="2147484437" r:id="rId29"/>
    <p:sldLayoutId id="2147484438" r:id="rId30"/>
    <p:sldLayoutId id="2147484087" r:id="rId31"/>
    <p:sldLayoutId id="214748445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57744936"/>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6" r:id="rId8"/>
    <p:sldLayoutId id="2147484217"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58BAB-31D7-48C5-AF25-05D529D92CFD}"/>
              </a:ext>
            </a:extLst>
          </p:cNvPr>
          <p:cNvSpPr>
            <a:spLocks noGrp="1"/>
          </p:cNvSpPr>
          <p:nvPr>
            <p:ph type="ctrTitle"/>
          </p:nvPr>
        </p:nvSpPr>
        <p:spPr/>
        <p:txBody>
          <a:bodyPr/>
          <a:lstStyle/>
          <a:p>
            <a:r>
              <a:rPr lang="en-GB" dirty="0"/>
              <a:t>Jenkins Pipeline</a:t>
            </a:r>
          </a:p>
        </p:txBody>
      </p:sp>
    </p:spTree>
    <p:extLst>
      <p:ext uri="{BB962C8B-B14F-4D97-AF65-F5344CB8AC3E}">
        <p14:creationId xmlns:p14="http://schemas.microsoft.com/office/powerpoint/2010/main" val="91548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EF5DB51-6AFA-A302-BA76-ABB374CE757A}"/>
              </a:ext>
            </a:extLst>
          </p:cNvPr>
          <p:cNvSpPr>
            <a:spLocks noGrp="1"/>
          </p:cNvSpPr>
          <p:nvPr>
            <p:ph type="body" sz="quarter" idx="12"/>
          </p:nvPr>
        </p:nvSpPr>
        <p:spPr/>
        <p:txBody>
          <a:bodyPr/>
          <a:lstStyle/>
          <a:p>
            <a:r>
              <a:rPr lang="en-GB" b="1" dirty="0"/>
              <a:t>Why Jenkins Pipelines Matter</a:t>
            </a:r>
            <a:endParaRPr lang="en-GB" dirty="0"/>
          </a:p>
          <a:p>
            <a:endParaRPr lang="en-GB" dirty="0"/>
          </a:p>
        </p:txBody>
      </p:sp>
      <p:sp>
        <p:nvSpPr>
          <p:cNvPr id="3" name="Text Placeholder 2">
            <a:extLst>
              <a:ext uri="{FF2B5EF4-FFF2-40B4-BE49-F238E27FC236}">
                <a16:creationId xmlns:a16="http://schemas.microsoft.com/office/drawing/2014/main" id="{D56B5BDB-E0FC-2944-4E9C-4E3765BDE954}"/>
              </a:ext>
            </a:extLst>
          </p:cNvPr>
          <p:cNvSpPr>
            <a:spLocks noGrp="1"/>
          </p:cNvSpPr>
          <p:nvPr>
            <p:ph type="body" sz="quarter" idx="11"/>
          </p:nvPr>
        </p:nvSpPr>
        <p:spPr/>
        <p:txBody>
          <a:bodyPr/>
          <a:lstStyle/>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Traditional Jenkins jobs do not scale well</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UI-configured jobs are hard to track and maintain</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Changes are not version-controlled</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Pipelines treat delivery as code and integrate with Git</a:t>
            </a:r>
          </a:p>
          <a:p>
            <a:endParaRPr lang="en-GB" sz="2400" dirty="0"/>
          </a:p>
        </p:txBody>
      </p:sp>
      <p:sp>
        <p:nvSpPr>
          <p:cNvPr id="2" name="Slide Number Placeholder 1">
            <a:extLst>
              <a:ext uri="{FF2B5EF4-FFF2-40B4-BE49-F238E27FC236}">
                <a16:creationId xmlns:a16="http://schemas.microsoft.com/office/drawing/2014/main" id="{75E552C1-F0E7-3412-647F-C454459CEEA8}"/>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767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3D7D82-75C2-95EC-E594-7AC2D1DA9109}"/>
              </a:ext>
            </a:extLst>
          </p:cNvPr>
          <p:cNvSpPr>
            <a:spLocks noGrp="1"/>
          </p:cNvSpPr>
          <p:nvPr>
            <p:ph type="sldNum" sz="quarter" idx="4"/>
          </p:nvPr>
        </p:nvSpPr>
        <p:spPr/>
        <p:txBody>
          <a:bodyPr/>
          <a:lstStyle/>
          <a:p>
            <a:fld id="{EF892D59-8F09-EF4B-AD6D-DA609442F868}" type="slidenum">
              <a:rPr lang="en-GB" smtClean="0"/>
              <a:pPr/>
              <a:t>3</a:t>
            </a:fld>
            <a:endParaRPr lang="en-GB"/>
          </a:p>
        </p:txBody>
      </p:sp>
      <p:sp>
        <p:nvSpPr>
          <p:cNvPr id="3" name="Text Placeholder 2">
            <a:extLst>
              <a:ext uri="{FF2B5EF4-FFF2-40B4-BE49-F238E27FC236}">
                <a16:creationId xmlns:a16="http://schemas.microsoft.com/office/drawing/2014/main" id="{68659F4B-1C8A-CEE8-14A9-81E12700EFBC}"/>
              </a:ext>
            </a:extLst>
          </p:cNvPr>
          <p:cNvSpPr>
            <a:spLocks noGrp="1"/>
          </p:cNvSpPr>
          <p:nvPr>
            <p:ph type="body" sz="quarter" idx="12"/>
          </p:nvPr>
        </p:nvSpPr>
        <p:spPr/>
        <p:txBody>
          <a:bodyPr/>
          <a:lstStyle/>
          <a:p>
            <a:r>
              <a:rPr lang="en-GB" b="1" dirty="0"/>
              <a:t>What is a Jenkinsfile</a:t>
            </a:r>
            <a:endParaRPr lang="en-GB" dirty="0"/>
          </a:p>
        </p:txBody>
      </p:sp>
      <p:sp>
        <p:nvSpPr>
          <p:cNvPr id="5" name="TextBox 4">
            <a:extLst>
              <a:ext uri="{FF2B5EF4-FFF2-40B4-BE49-F238E27FC236}">
                <a16:creationId xmlns:a16="http://schemas.microsoft.com/office/drawing/2014/main" id="{00395295-5B37-F9C2-A592-540213E81FF0}"/>
              </a:ext>
            </a:extLst>
          </p:cNvPr>
          <p:cNvSpPr txBox="1"/>
          <p:nvPr/>
        </p:nvSpPr>
        <p:spPr>
          <a:xfrm>
            <a:off x="745236" y="1512100"/>
            <a:ext cx="5798999" cy="2520370"/>
          </a:xfrm>
          <a:prstGeom prst="rect">
            <a:avLst/>
          </a:prstGeom>
        </p:spPr>
        <p:txBody>
          <a:bodyPr vert="horz" lIns="0" tIns="0" rIns="0" bIns="0" rtlCol="0" anchor="t" anchorCtr="0">
            <a:noAutofit/>
          </a:bodyPr>
          <a:lstStyle>
            <a:lvl1pPr marL="342900" lvl="0" indent="-342900">
              <a:lnSpc>
                <a:spcPct val="150000"/>
              </a:lnSpc>
              <a:spcBef>
                <a:spcPts val="0"/>
              </a:spcBef>
              <a:spcAft>
                <a:spcPts val="651"/>
              </a:spcAft>
              <a:buSzPts val="1000"/>
              <a:buFont typeface="Arial" panose="020B0604020202020204" pitchFamily="34" charset="0"/>
              <a:buChar char="•"/>
              <a:tabLst>
                <a:tab pos="457200" algn="l"/>
              </a:tabLst>
              <a:defRPr sz="2400" b="1" i="0">
                <a:effectLst/>
                <a:latin typeface="Calibri" panose="020F0502020204030204" pitchFamily="34" charset="0"/>
                <a:ea typeface="Droid Sans Fallback"/>
              </a:defRPr>
            </a:lvl1pPr>
            <a:lvl2pPr marL="171446" indent="-171446">
              <a:lnSpc>
                <a:spcPct val="100000"/>
              </a:lnSpc>
              <a:spcBef>
                <a:spcPts val="0"/>
              </a:spcBef>
              <a:spcAft>
                <a:spcPts val="651"/>
              </a:spcAft>
              <a:buSzPct val="125000"/>
              <a:buFont typeface="Arial" panose="020B0604020202020204" pitchFamily="34" charset="0"/>
              <a:buChar char="•"/>
              <a:tabLst/>
              <a:defRPr b="0">
                <a:latin typeface="Montserrat" pitchFamily="2" charset="77"/>
              </a:defRPr>
            </a:lvl2pPr>
            <a:lvl3pPr marL="88898" indent="0">
              <a:lnSpc>
                <a:spcPct val="100000"/>
              </a:lnSpc>
              <a:spcBef>
                <a:spcPts val="0"/>
              </a:spcBef>
              <a:spcAft>
                <a:spcPts val="651"/>
              </a:spcAft>
              <a:buSzPct val="120000"/>
              <a:buFont typeface="Arial" panose="020B0604020202020204" pitchFamily="34" charset="0"/>
              <a:buNone/>
              <a:tabLst/>
              <a:defRPr b="0" i="0">
                <a:latin typeface="Montserrat" pitchFamily="2" charset="77"/>
              </a:defRPr>
            </a:lvl3pPr>
            <a:lvl4pPr marL="88898" indent="0">
              <a:lnSpc>
                <a:spcPct val="100000"/>
              </a:lnSpc>
              <a:spcBef>
                <a:spcPts val="0"/>
              </a:spcBef>
              <a:spcAft>
                <a:spcPts val="651"/>
              </a:spcAft>
              <a:buSzPct val="120000"/>
              <a:buFont typeface="Arial" panose="020B0604020202020204" pitchFamily="34" charset="0"/>
              <a:buNone/>
              <a:tabLst/>
              <a:defRPr b="0">
                <a:latin typeface="Montserrat" pitchFamily="2" charset="77"/>
              </a:defRPr>
            </a:lvl4pPr>
            <a:lvl5pPr marL="355591" indent="-266693">
              <a:lnSpc>
                <a:spcPct val="100000"/>
              </a:lnSpc>
              <a:spcBef>
                <a:spcPts val="0"/>
              </a:spcBef>
              <a:spcAft>
                <a:spcPts val="651"/>
              </a:spcAft>
              <a:buSzPct val="125000"/>
              <a:buFont typeface="Arial" panose="020B0604020202020204" pitchFamily="34" charset="0"/>
              <a:buChar char="•"/>
              <a:tabLst/>
              <a:defRPr b="0">
                <a:latin typeface="Montserrat" pitchFamily="2" charset="77"/>
              </a:defRPr>
            </a:lvl5pPr>
            <a:lvl6pPr marL="2514537" indent="-228594">
              <a:lnSpc>
                <a:spcPct val="90000"/>
              </a:lnSpc>
              <a:spcBef>
                <a:spcPts val="500"/>
              </a:spcBef>
              <a:buFont typeface="Arial" panose="020B0604020202020204" pitchFamily="34" charset="0"/>
              <a:buChar char="•"/>
            </a:lvl6pPr>
            <a:lvl7pPr marL="2971726" indent="-228594">
              <a:lnSpc>
                <a:spcPct val="90000"/>
              </a:lnSpc>
              <a:spcBef>
                <a:spcPts val="500"/>
              </a:spcBef>
              <a:buFont typeface="Arial" panose="020B0604020202020204" pitchFamily="34" charset="0"/>
              <a:buChar char="•"/>
            </a:lvl7pPr>
            <a:lvl8pPr marL="3428914" indent="-228594">
              <a:lnSpc>
                <a:spcPct val="90000"/>
              </a:lnSpc>
              <a:spcBef>
                <a:spcPts val="500"/>
              </a:spcBef>
              <a:buFont typeface="Arial" panose="020B0604020202020204" pitchFamily="34" charset="0"/>
              <a:buChar char="•"/>
            </a:lvl8pPr>
            <a:lvl9pPr marL="3886103" indent="-228594">
              <a:lnSpc>
                <a:spcPct val="90000"/>
              </a:lnSpc>
              <a:spcBef>
                <a:spcPts val="500"/>
              </a:spcBef>
              <a:buFont typeface="Arial" panose="020B0604020202020204" pitchFamily="34" charset="0"/>
              <a:buChar char="•"/>
            </a:lvl9pPr>
          </a:lstStyle>
          <a:p>
            <a:r>
              <a:rPr lang="en-GB" sz="1800" dirty="0"/>
              <a:t>A Jenkinsfile defines the pipeline for your project</a:t>
            </a:r>
          </a:p>
          <a:p>
            <a:r>
              <a:rPr lang="en-GB" sz="1800" dirty="0"/>
              <a:t>Stored in the same Git repository as your application</a:t>
            </a:r>
          </a:p>
          <a:p>
            <a:r>
              <a:rPr lang="en-GB" sz="1800" dirty="0"/>
              <a:t>Version controlled like source code</a:t>
            </a:r>
          </a:p>
          <a:p>
            <a:r>
              <a:rPr lang="en-GB" sz="1800" dirty="0"/>
              <a:t>Enables reproducible builds across machines and teams</a:t>
            </a:r>
          </a:p>
        </p:txBody>
      </p:sp>
      <p:sp>
        <p:nvSpPr>
          <p:cNvPr id="7" name="TextBox 6">
            <a:extLst>
              <a:ext uri="{FF2B5EF4-FFF2-40B4-BE49-F238E27FC236}">
                <a16:creationId xmlns:a16="http://schemas.microsoft.com/office/drawing/2014/main" id="{0786A135-CBC5-A1EE-AB6A-E7FB0CB3B355}"/>
              </a:ext>
            </a:extLst>
          </p:cNvPr>
          <p:cNvSpPr txBox="1"/>
          <p:nvPr/>
        </p:nvSpPr>
        <p:spPr>
          <a:xfrm>
            <a:off x="7294789" y="1221432"/>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2283573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CB60-6EFC-B0D7-7928-1B074523E33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866A781-D5A4-2006-A894-52F4A4D2AC94}"/>
              </a:ext>
            </a:extLst>
          </p:cNvPr>
          <p:cNvSpPr>
            <a:spLocks noGrp="1"/>
          </p:cNvSpPr>
          <p:nvPr>
            <p:ph type="body" sz="quarter" idx="12"/>
          </p:nvPr>
        </p:nvSpPr>
        <p:spPr/>
        <p:txBody>
          <a:bodyPr/>
          <a:lstStyle/>
          <a:p>
            <a:r>
              <a:rPr lang="en-GB" b="1" dirty="0"/>
              <a:t>Basic Declarative Jenkinsfile Structure</a:t>
            </a:r>
            <a:endParaRPr lang="en-GB" dirty="0"/>
          </a:p>
        </p:txBody>
      </p:sp>
      <p:sp>
        <p:nvSpPr>
          <p:cNvPr id="4" name="Text Placeholder 3">
            <a:extLst>
              <a:ext uri="{FF2B5EF4-FFF2-40B4-BE49-F238E27FC236}">
                <a16:creationId xmlns:a16="http://schemas.microsoft.com/office/drawing/2014/main" id="{22B80189-83AD-728E-C5B9-2FA9D8D324B0}"/>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pipeline { } block defines the pipeline</a:t>
            </a:r>
          </a:p>
          <a:p>
            <a:pPr marL="342900" indent="-342900">
              <a:lnSpc>
                <a:spcPct val="150000"/>
              </a:lnSpc>
              <a:buSzPts val="1000"/>
              <a:buChar char="•"/>
              <a:tabLst>
                <a:tab pos="457200" algn="l"/>
              </a:tabLst>
            </a:pPr>
            <a:r>
              <a:rPr lang="en-GB" sz="2400" b="1" dirty="0">
                <a:latin typeface="Calibri" panose="020F0502020204030204" pitchFamily="34" charset="0"/>
              </a:rPr>
              <a:t>agent specifies where it runs (e.g., any node)</a:t>
            </a:r>
          </a:p>
          <a:p>
            <a:pPr marL="342900" indent="-342900">
              <a:lnSpc>
                <a:spcPct val="150000"/>
              </a:lnSpc>
              <a:buSzPts val="1000"/>
              <a:buChar char="•"/>
              <a:tabLst>
                <a:tab pos="457200" algn="l"/>
              </a:tabLst>
            </a:pPr>
            <a:r>
              <a:rPr lang="en-GB" sz="2400" b="1" dirty="0">
                <a:latin typeface="Calibri" panose="020F0502020204030204" pitchFamily="34" charset="0"/>
              </a:rPr>
              <a:t>stages { } contain logical steps</a:t>
            </a:r>
          </a:p>
          <a:p>
            <a:pPr marL="342900" indent="-342900">
              <a:lnSpc>
                <a:spcPct val="150000"/>
              </a:lnSpc>
              <a:buSzPts val="1000"/>
              <a:buChar char="•"/>
              <a:tabLst>
                <a:tab pos="457200" algn="l"/>
              </a:tabLst>
            </a:pPr>
            <a:r>
              <a:rPr lang="en-GB" sz="2400" b="1" dirty="0">
                <a:latin typeface="Calibri" panose="020F0502020204030204" pitchFamily="34" charset="0"/>
              </a:rPr>
              <a:t>steps { } perform actions like building or testing</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DE0F2827-8F57-29A0-7648-B53198C10490}"/>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3" name="TextBox 2">
            <a:extLst>
              <a:ext uri="{FF2B5EF4-FFF2-40B4-BE49-F238E27FC236}">
                <a16:creationId xmlns:a16="http://schemas.microsoft.com/office/drawing/2014/main" id="{6F165339-C7A4-C803-E15A-B13EE80A726A}"/>
              </a:ext>
            </a:extLst>
          </p:cNvPr>
          <p:cNvSpPr txBox="1"/>
          <p:nvPr/>
        </p:nvSpPr>
        <p:spPr>
          <a:xfrm>
            <a:off x="7294789" y="1221432"/>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399537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DA35EF2-28F7-9A11-99A4-2F8F5FCB52DA}"/>
              </a:ext>
            </a:extLst>
          </p:cNvPr>
          <p:cNvSpPr>
            <a:spLocks noGrp="1"/>
          </p:cNvSpPr>
          <p:nvPr>
            <p:ph type="body" sz="quarter" idx="12"/>
          </p:nvPr>
        </p:nvSpPr>
        <p:spPr/>
        <p:txBody>
          <a:bodyPr/>
          <a:lstStyle/>
          <a:p>
            <a:r>
              <a:rPr lang="en-GB" b="1" dirty="0"/>
              <a:t>Declarative vs Scripted Pipelines</a:t>
            </a:r>
            <a:endParaRPr lang="en-GB" dirty="0"/>
          </a:p>
          <a:p>
            <a:endParaRPr lang="en-GB" dirty="0"/>
          </a:p>
        </p:txBody>
      </p:sp>
      <p:sp>
        <p:nvSpPr>
          <p:cNvPr id="4" name="Text Placeholder 3">
            <a:extLst>
              <a:ext uri="{FF2B5EF4-FFF2-40B4-BE49-F238E27FC236}">
                <a16:creationId xmlns:a16="http://schemas.microsoft.com/office/drawing/2014/main" id="{4A695D40-07AD-974F-7360-17B492DA80FD}"/>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Declarative: structured, easy to read and maintain</a:t>
            </a:r>
          </a:p>
          <a:p>
            <a:pPr marL="342900" indent="-342900">
              <a:lnSpc>
                <a:spcPct val="150000"/>
              </a:lnSpc>
              <a:buSzPts val="1000"/>
              <a:buChar char="•"/>
              <a:tabLst>
                <a:tab pos="457200" algn="l"/>
              </a:tabLst>
            </a:pPr>
            <a:r>
              <a:rPr lang="en-GB" sz="2400" b="1" dirty="0">
                <a:latin typeface="Calibri" panose="020F0502020204030204" pitchFamily="34" charset="0"/>
              </a:rPr>
              <a:t>Scripted: fully flexible, but more complex</a:t>
            </a:r>
          </a:p>
          <a:p>
            <a:pPr marL="342900" indent="-342900">
              <a:buSzPts val="1000"/>
              <a:buChar char="•"/>
              <a:tabLst>
                <a:tab pos="457200" algn="l"/>
              </a:tabLst>
            </a:pPr>
            <a:r>
              <a:rPr lang="en-GB" sz="2400" b="1" dirty="0">
                <a:latin typeface="Calibri" panose="020F0502020204030204" pitchFamily="34" charset="0"/>
              </a:rPr>
              <a:t>Declarative enforces a </a:t>
            </a:r>
            <a:br>
              <a:rPr lang="en-GB" sz="2400" b="1" dirty="0">
                <a:latin typeface="Calibri" panose="020F0502020204030204" pitchFamily="34" charset="0"/>
              </a:rPr>
            </a:br>
            <a:r>
              <a:rPr lang="en-GB" sz="2400" b="1" dirty="0">
                <a:latin typeface="Calibri" panose="020F0502020204030204" pitchFamily="34" charset="0"/>
              </a:rPr>
              <a:t>standard format, reducing mistakes</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5CD51F29-7E4C-1D7B-4482-2B7A357306DA}"/>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7" name="TextBox 6">
            <a:extLst>
              <a:ext uri="{FF2B5EF4-FFF2-40B4-BE49-F238E27FC236}">
                <a16:creationId xmlns:a16="http://schemas.microsoft.com/office/drawing/2014/main" id="{47324657-472B-8F65-6F8D-0FD36FF5B630}"/>
              </a:ext>
            </a:extLst>
          </p:cNvPr>
          <p:cNvSpPr txBox="1"/>
          <p:nvPr/>
        </p:nvSpPr>
        <p:spPr>
          <a:xfrm>
            <a:off x="6285566" y="2953440"/>
            <a:ext cx="5332694" cy="313932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chemeClr val="accent4">
                    <a:lumMod val="50000"/>
                  </a:schemeClr>
                </a:solidFill>
                <a:highlight>
                  <a:srgbClr val="FFFFFF"/>
                </a:highlight>
                <a:latin typeface="Cascadia Mono" panose="020B0609020000020004" pitchFamily="49" charset="0"/>
              </a:rPr>
              <a:t>node</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r>
              <a:rPr lang="en-GB" sz="1800" b="1" dirty="0">
                <a:solidFill>
                  <a:srgbClr val="0000FF"/>
                </a:solidFill>
                <a:highlight>
                  <a:srgbClr val="FFFFFF"/>
                </a:highlight>
                <a:latin typeface="Cascadia Mono" panose="020B0609020000020004" pitchFamily="49" charset="0"/>
              </a:rPr>
              <a:t>if</a:t>
            </a:r>
            <a:r>
              <a:rPr lang="en-GB" sz="1800" b="1" dirty="0">
                <a:solidFill>
                  <a:srgbClr val="000000"/>
                </a:solidFill>
                <a:highlight>
                  <a:srgbClr val="FFFFFF"/>
                </a:highlight>
                <a:latin typeface="Cascadia Mono" panose="020B0609020000020004" pitchFamily="49" charset="0"/>
              </a:rPr>
              <a:t> (</a:t>
            </a:r>
            <a:r>
              <a:rPr lang="en-GB" sz="1800" b="1" dirty="0" err="1">
                <a:solidFill>
                  <a:srgbClr val="000000"/>
                </a:solidFill>
                <a:highlight>
                  <a:srgbClr val="FFFFFF"/>
                </a:highlight>
                <a:latin typeface="Cascadia Mono" panose="020B0609020000020004" pitchFamily="49" charset="0"/>
              </a:rPr>
              <a:t>env.BRANCH_NAME</a:t>
            </a:r>
            <a:r>
              <a:rPr lang="en-GB" sz="1800" b="1" dirty="0">
                <a:solidFill>
                  <a:srgbClr val="000000"/>
                </a:solidFill>
                <a:highlight>
                  <a:srgbClr val="FFFFFF"/>
                </a:highlight>
                <a:latin typeface="Cascadia Mono" panose="020B0609020000020004" pitchFamily="49" charset="0"/>
              </a:rPr>
              <a:t> == </a:t>
            </a:r>
            <a:r>
              <a:rPr lang="en-GB" sz="1800" b="1" dirty="0">
                <a:solidFill>
                  <a:srgbClr val="A31515"/>
                </a:solidFill>
                <a:highlight>
                  <a:srgbClr val="FFFFFF"/>
                </a:highlight>
                <a:latin typeface="Cascadia Mono" panose="020B0609020000020004" pitchFamily="49" charset="0"/>
              </a:rPr>
              <a:t>'main'</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'Build'</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'Building'</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'Test'</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'Testing'</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412995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48D4-DF74-0CF3-C3D9-2C670F32F8C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3902B29-15B9-5281-212B-71F5BE1A9622}"/>
              </a:ext>
            </a:extLst>
          </p:cNvPr>
          <p:cNvSpPr>
            <a:spLocks noGrp="1"/>
          </p:cNvSpPr>
          <p:nvPr>
            <p:ph type="body" sz="quarter" idx="12"/>
          </p:nvPr>
        </p:nvSpPr>
        <p:spPr/>
        <p:txBody>
          <a:bodyPr/>
          <a:lstStyle/>
          <a:p>
            <a:r>
              <a:rPr lang="en-GB" b="1" dirty="0"/>
              <a:t>Multistage Pipelines</a:t>
            </a:r>
            <a:endParaRPr lang="en-GB" dirty="0"/>
          </a:p>
        </p:txBody>
      </p:sp>
      <p:sp>
        <p:nvSpPr>
          <p:cNvPr id="4" name="Text Placeholder 3">
            <a:extLst>
              <a:ext uri="{FF2B5EF4-FFF2-40B4-BE49-F238E27FC236}">
                <a16:creationId xmlns:a16="http://schemas.microsoft.com/office/drawing/2014/main" id="{BF19FAC6-69D7-EE86-317D-07E49C511D2A}"/>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Break the pipeline into logical stages: </a:t>
            </a:r>
            <a:br>
              <a:rPr lang="en-GB" sz="2400" b="1" dirty="0">
                <a:latin typeface="Calibri" panose="020F0502020204030204" pitchFamily="34" charset="0"/>
              </a:rPr>
            </a:br>
            <a:r>
              <a:rPr lang="en-GB" sz="2400" b="1" dirty="0">
                <a:latin typeface="Calibri" panose="020F0502020204030204" pitchFamily="34" charset="0"/>
              </a:rPr>
              <a:t>Build, Test, Package, Deploy</a:t>
            </a:r>
          </a:p>
          <a:p>
            <a:pPr marL="342900" indent="-342900">
              <a:lnSpc>
                <a:spcPct val="150000"/>
              </a:lnSpc>
              <a:buSzPts val="1000"/>
              <a:buChar char="•"/>
              <a:tabLst>
                <a:tab pos="457200" algn="l"/>
              </a:tabLst>
            </a:pPr>
            <a:r>
              <a:rPr lang="en-GB" sz="2400" b="1" dirty="0">
                <a:latin typeface="Calibri" panose="020F0502020204030204" pitchFamily="34" charset="0"/>
              </a:rPr>
              <a:t>Each stage has a single purpose</a:t>
            </a:r>
          </a:p>
          <a:p>
            <a:pPr marL="342900" indent="-342900">
              <a:lnSpc>
                <a:spcPct val="150000"/>
              </a:lnSpc>
              <a:buSzPts val="1000"/>
              <a:buChar char="•"/>
              <a:tabLst>
                <a:tab pos="457200" algn="l"/>
              </a:tabLst>
            </a:pPr>
            <a:r>
              <a:rPr lang="en-GB" sz="2400" b="1" dirty="0">
                <a:latin typeface="Calibri" panose="020F0502020204030204" pitchFamily="34" charset="0"/>
              </a:rPr>
              <a:t>Failures are easier to diagnose and fix</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BDB2DB9D-5F76-92D4-1316-19699CEB55AC}"/>
              </a:ext>
            </a:extLst>
          </p:cNvPr>
          <p:cNvSpPr>
            <a:spLocks noGrp="1"/>
          </p:cNvSpPr>
          <p:nvPr>
            <p:ph type="sldNum" sz="quarter" idx="4"/>
          </p:nvPr>
        </p:nvSpPr>
        <p:spPr/>
        <p:txBody>
          <a:bodyPr/>
          <a:lstStyle/>
          <a:p>
            <a:fld id="{EF892D59-8F09-EF4B-AD6D-DA609442F868}" type="slidenum">
              <a:rPr lang="en-GB" smtClean="0"/>
              <a:pPr/>
              <a:t>6</a:t>
            </a:fld>
            <a:endParaRPr lang="en-GB"/>
          </a:p>
        </p:txBody>
      </p:sp>
      <p:sp>
        <p:nvSpPr>
          <p:cNvPr id="3" name="TextBox 2">
            <a:extLst>
              <a:ext uri="{FF2B5EF4-FFF2-40B4-BE49-F238E27FC236}">
                <a16:creationId xmlns:a16="http://schemas.microsoft.com/office/drawing/2014/main" id="{A38B2E62-AE13-3ADE-9CEE-5A3D15A06485}"/>
              </a:ext>
            </a:extLst>
          </p:cNvPr>
          <p:cNvSpPr txBox="1"/>
          <p:nvPr/>
        </p:nvSpPr>
        <p:spPr>
          <a:xfrm>
            <a:off x="7294788" y="1240838"/>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213802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A5296-3A65-2CD3-6DD0-6C7C607A696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E2D44A0-30FC-4069-01BF-F0EC8340527E}"/>
              </a:ext>
            </a:extLst>
          </p:cNvPr>
          <p:cNvSpPr>
            <a:spLocks noGrp="1"/>
          </p:cNvSpPr>
          <p:nvPr>
            <p:ph type="body" sz="quarter" idx="12"/>
          </p:nvPr>
        </p:nvSpPr>
        <p:spPr/>
        <p:txBody>
          <a:bodyPr/>
          <a:lstStyle/>
          <a:p>
            <a:r>
              <a:rPr lang="en-GB" b="1" dirty="0"/>
              <a:t>Multistage Pipeline </a:t>
            </a:r>
            <a:br>
              <a:rPr lang="en-GB" b="1" dirty="0"/>
            </a:br>
            <a:r>
              <a:rPr lang="en-GB" b="1" dirty="0"/>
              <a:t>Example</a:t>
            </a:r>
            <a:endParaRPr lang="en-GB" dirty="0"/>
          </a:p>
        </p:txBody>
      </p:sp>
      <p:sp>
        <p:nvSpPr>
          <p:cNvPr id="4" name="Text Placeholder 3">
            <a:extLst>
              <a:ext uri="{FF2B5EF4-FFF2-40B4-BE49-F238E27FC236}">
                <a16:creationId xmlns:a16="http://schemas.microsoft.com/office/drawing/2014/main" id="{48217F24-2DE1-0914-0DB2-1C9BE68E7873}"/>
              </a:ext>
            </a:extLst>
          </p:cNvPr>
          <p:cNvSpPr>
            <a:spLocks noGrp="1"/>
          </p:cNvSpPr>
          <p:nvPr>
            <p:ph type="body" sz="quarter" idx="11"/>
          </p:nvPr>
        </p:nvSpPr>
        <p:spPr>
          <a:xfrm>
            <a:off x="376237" y="1977359"/>
            <a:ext cx="11431587" cy="4190359"/>
          </a:xfrm>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Checkout: Pull source code from Git</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Build: Compile or package code</a:t>
            </a:r>
          </a:p>
          <a:p>
            <a:pPr marL="342900" indent="-342900">
              <a:buSzPts val="1000"/>
              <a:buChar char="•"/>
              <a:tabLst>
                <a:tab pos="457200" algn="l"/>
              </a:tabLst>
            </a:pPr>
            <a:br>
              <a:rPr lang="en-GB" sz="2400" b="1" dirty="0">
                <a:latin typeface="Calibri" panose="020F0502020204030204" pitchFamily="34" charset="0"/>
              </a:rPr>
            </a:br>
            <a:r>
              <a:rPr lang="en-GB" sz="2400" b="1" dirty="0">
                <a:latin typeface="Calibri" panose="020F0502020204030204" pitchFamily="34" charset="0"/>
              </a:rPr>
              <a:t>Test: Run unit, integration, or lint tests</a:t>
            </a:r>
          </a:p>
          <a:p>
            <a:pPr marL="342900" indent="-342900">
              <a:buSzPts val="1000"/>
              <a:buChar char="•"/>
              <a:tabLst>
                <a:tab pos="457200" algn="l"/>
              </a:tabLst>
            </a:pPr>
            <a:r>
              <a:rPr lang="en-GB" sz="2400" b="1" dirty="0">
                <a:latin typeface="Calibri" panose="020F0502020204030204" pitchFamily="34" charset="0"/>
              </a:rPr>
              <a:t>Package: Build artifacts or Docker images</a:t>
            </a:r>
          </a:p>
          <a:p>
            <a:pPr marL="342900" indent="-342900">
              <a:buSzPts val="1000"/>
              <a:buChar char="•"/>
              <a:tabLst>
                <a:tab pos="457200" algn="l"/>
              </a:tabLst>
            </a:pPr>
            <a:br>
              <a:rPr lang="en-GB" sz="2400" b="1" dirty="0">
                <a:latin typeface="Calibri" panose="020F0502020204030204" pitchFamily="34" charset="0"/>
              </a:rPr>
            </a:br>
            <a:r>
              <a:rPr lang="en-GB" sz="2400" b="1" dirty="0">
                <a:latin typeface="Calibri" panose="020F0502020204030204" pitchFamily="34" charset="0"/>
              </a:rPr>
              <a:t>Deploy: Release to </a:t>
            </a:r>
            <a:br>
              <a:rPr lang="en-GB" sz="2400" b="1" dirty="0">
                <a:latin typeface="Calibri" panose="020F0502020204030204" pitchFamily="34" charset="0"/>
              </a:rPr>
            </a:br>
            <a:r>
              <a:rPr lang="en-GB" sz="2400" b="1" dirty="0">
                <a:latin typeface="Calibri" panose="020F0502020204030204" pitchFamily="34" charset="0"/>
              </a:rPr>
              <a:t>dev/test/production environment</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BC8F44F9-E3A7-90C6-5E97-A9793B281210}"/>
              </a:ext>
            </a:extLst>
          </p:cNvPr>
          <p:cNvSpPr>
            <a:spLocks noGrp="1"/>
          </p:cNvSpPr>
          <p:nvPr>
            <p:ph type="sldNum" sz="quarter" idx="4"/>
          </p:nvPr>
        </p:nvSpPr>
        <p:spPr/>
        <p:txBody>
          <a:bodyPr/>
          <a:lstStyle/>
          <a:p>
            <a:fld id="{EF892D59-8F09-EF4B-AD6D-DA609442F868}" type="slidenum">
              <a:rPr lang="en-GB" smtClean="0"/>
              <a:pPr/>
              <a:t>7</a:t>
            </a:fld>
            <a:endParaRPr lang="en-GB"/>
          </a:p>
        </p:txBody>
      </p:sp>
      <p:sp>
        <p:nvSpPr>
          <p:cNvPr id="6" name="TextBox 5">
            <a:extLst>
              <a:ext uri="{FF2B5EF4-FFF2-40B4-BE49-F238E27FC236}">
                <a16:creationId xmlns:a16="http://schemas.microsoft.com/office/drawing/2014/main" id="{BDD0A752-CAC3-A73B-C408-F7D8C693C6B7}"/>
              </a:ext>
            </a:extLst>
          </p:cNvPr>
          <p:cNvSpPr txBox="1"/>
          <p:nvPr/>
        </p:nvSpPr>
        <p:spPr>
          <a:xfrm>
            <a:off x="6871573" y="166328"/>
            <a:ext cx="5170331" cy="655564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'Checkout'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checkout </a:t>
            </a:r>
            <a:r>
              <a:rPr lang="en-GB" sz="1400" b="1" dirty="0" err="1">
                <a:solidFill>
                  <a:srgbClr val="000000"/>
                </a:solidFill>
                <a:highlight>
                  <a:srgbClr val="FFFFFF"/>
                </a:highlight>
                <a:latin typeface="Cascadia Mono" panose="020B0609020000020004" pitchFamily="49" charset="0"/>
              </a:rPr>
              <a:t>scm</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compile'</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test'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'Package'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package'</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'echo Deploy to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355748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DC42-A8BE-24A0-8FCF-B99D3585203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FA05484-355E-CEF8-93CF-546CFEF1A65E}"/>
              </a:ext>
            </a:extLst>
          </p:cNvPr>
          <p:cNvSpPr>
            <a:spLocks noGrp="1"/>
          </p:cNvSpPr>
          <p:nvPr>
            <p:ph type="body" sz="quarter" idx="12"/>
          </p:nvPr>
        </p:nvSpPr>
        <p:spPr/>
        <p:txBody>
          <a:bodyPr/>
          <a:lstStyle/>
          <a:p>
            <a:r>
              <a:rPr lang="en-GB" b="1" dirty="0"/>
              <a:t>Parallel Stages</a:t>
            </a:r>
            <a:endParaRPr lang="en-GB" dirty="0"/>
          </a:p>
        </p:txBody>
      </p:sp>
      <p:sp>
        <p:nvSpPr>
          <p:cNvPr id="4" name="Text Placeholder 3">
            <a:extLst>
              <a:ext uri="{FF2B5EF4-FFF2-40B4-BE49-F238E27FC236}">
                <a16:creationId xmlns:a16="http://schemas.microsoft.com/office/drawing/2014/main" id="{59B9E161-BA8C-821F-9D55-FB27DBAA7C6C}"/>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Run tasks simultaneously to save time</a:t>
            </a:r>
          </a:p>
          <a:p>
            <a:pPr marL="342900" indent="-342900">
              <a:lnSpc>
                <a:spcPct val="150000"/>
              </a:lnSpc>
              <a:buSzPts val="1000"/>
              <a:buChar char="•"/>
              <a:tabLst>
                <a:tab pos="457200" algn="l"/>
              </a:tabLst>
            </a:pPr>
            <a:r>
              <a:rPr lang="en-GB" sz="2400" b="1" dirty="0">
                <a:latin typeface="Calibri" panose="020F0502020204030204" pitchFamily="34" charset="0"/>
              </a:rPr>
              <a:t>Useful for independent work (unit tests, linting, or building multiple platforms)</a:t>
            </a:r>
          </a:p>
          <a:p>
            <a:pPr marL="342900" indent="-342900">
              <a:lnSpc>
                <a:spcPct val="150000"/>
              </a:lnSpc>
              <a:buSzPts val="1000"/>
              <a:buChar char="•"/>
              <a:tabLst>
                <a:tab pos="457200" algn="l"/>
              </a:tabLst>
            </a:pPr>
            <a:r>
              <a:rPr lang="en-GB" sz="2400" b="1" dirty="0">
                <a:latin typeface="Calibri" panose="020F0502020204030204" pitchFamily="34" charset="0"/>
              </a:rPr>
              <a:t>Reduces overall pipeline duration</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1C2A1F60-BEFD-7148-1491-51DF57CDD4DB}"/>
              </a:ext>
            </a:extLst>
          </p:cNvPr>
          <p:cNvSpPr>
            <a:spLocks noGrp="1"/>
          </p:cNvSpPr>
          <p:nvPr>
            <p:ph type="sldNum" sz="quarter" idx="4"/>
          </p:nvPr>
        </p:nvSpPr>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3894493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4A937-1F14-EB25-C858-A8186C866FC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40AD49D-C8BB-339B-9D7A-69432C288001}"/>
              </a:ext>
            </a:extLst>
          </p:cNvPr>
          <p:cNvSpPr>
            <a:spLocks noGrp="1"/>
          </p:cNvSpPr>
          <p:nvPr>
            <p:ph type="body" sz="quarter" idx="12"/>
          </p:nvPr>
        </p:nvSpPr>
        <p:spPr/>
        <p:txBody>
          <a:bodyPr/>
          <a:lstStyle/>
          <a:p>
            <a:r>
              <a:rPr lang="en-GB" b="1" dirty="0"/>
              <a:t>Parallel Stage Examples</a:t>
            </a:r>
            <a:endParaRPr lang="en-GB" dirty="0"/>
          </a:p>
        </p:txBody>
      </p:sp>
      <p:sp>
        <p:nvSpPr>
          <p:cNvPr id="4" name="Text Placeholder 3">
            <a:extLst>
              <a:ext uri="{FF2B5EF4-FFF2-40B4-BE49-F238E27FC236}">
                <a16:creationId xmlns:a16="http://schemas.microsoft.com/office/drawing/2014/main" id="{0D719FE3-4B61-DD6D-4F8B-833AC0718F8A}"/>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Unit tests and linting</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Integration tests on </a:t>
            </a:r>
            <a:br>
              <a:rPr lang="en-GB" sz="2400" b="1" dirty="0">
                <a:latin typeface="Calibri" panose="020F0502020204030204" pitchFamily="34" charset="0"/>
              </a:rPr>
            </a:br>
            <a:r>
              <a:rPr lang="en-GB" sz="2400" b="1" dirty="0">
                <a:latin typeface="Calibri" panose="020F0502020204030204" pitchFamily="34" charset="0"/>
              </a:rPr>
              <a:t>multiple environments</a:t>
            </a:r>
          </a:p>
          <a:p>
            <a:pPr marL="342900" indent="-342900">
              <a:buSzPts val="1000"/>
              <a:buChar char="•"/>
              <a:tabLst>
                <a:tab pos="457200" algn="l"/>
              </a:tabLst>
            </a:pP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Multi-platform builds </a:t>
            </a:r>
            <a:br>
              <a:rPr lang="en-GB" sz="2400" b="1" dirty="0">
                <a:latin typeface="Calibri" panose="020F0502020204030204" pitchFamily="34" charset="0"/>
              </a:rPr>
            </a:br>
            <a:r>
              <a:rPr lang="en-GB" sz="2400" b="1" dirty="0">
                <a:latin typeface="Calibri" panose="020F0502020204030204" pitchFamily="34" charset="0"/>
              </a:rPr>
              <a:t>(Windows/Linux/Mac)</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9A5357B9-47B9-0965-DF21-D1A73AD5F06B}"/>
              </a:ext>
            </a:extLst>
          </p:cNvPr>
          <p:cNvSpPr>
            <a:spLocks noGrp="1"/>
          </p:cNvSpPr>
          <p:nvPr>
            <p:ph type="sldNum" sz="quarter" idx="4"/>
          </p:nvPr>
        </p:nvSpPr>
        <p:spPr/>
        <p:txBody>
          <a:bodyPr/>
          <a:lstStyle/>
          <a:p>
            <a:fld id="{EF892D59-8F09-EF4B-AD6D-DA609442F868}" type="slidenum">
              <a:rPr lang="en-GB" smtClean="0"/>
              <a:pPr/>
              <a:t>9</a:t>
            </a:fld>
            <a:endParaRPr lang="en-GB"/>
          </a:p>
        </p:txBody>
      </p:sp>
      <p:sp>
        <p:nvSpPr>
          <p:cNvPr id="6" name="TextBox 5">
            <a:extLst>
              <a:ext uri="{FF2B5EF4-FFF2-40B4-BE49-F238E27FC236}">
                <a16:creationId xmlns:a16="http://schemas.microsoft.com/office/drawing/2014/main" id="{33B6E80C-36BB-D403-BCA4-F13598942307}"/>
              </a:ext>
            </a:extLst>
          </p:cNvPr>
          <p:cNvSpPr txBox="1"/>
          <p:nvPr/>
        </p:nvSpPr>
        <p:spPr>
          <a:xfrm>
            <a:off x="5174940" y="1646844"/>
            <a:ext cx="5869859" cy="3539430"/>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00"/>
                </a:solidFill>
                <a:highlight>
                  <a:srgbClr val="FFFFFF"/>
                </a:highlight>
                <a:latin typeface="Cascadia Mono" panose="020B0609020000020004" pitchFamily="49" charset="0"/>
              </a:rPr>
              <a:t>stage(</a:t>
            </a:r>
            <a:r>
              <a:rPr lang="en-GB" sz="1600" b="1" dirty="0">
                <a:solidFill>
                  <a:srgbClr val="A31515"/>
                </a:solidFill>
                <a:highlight>
                  <a:srgbClr val="FFFFFF"/>
                </a:highlight>
                <a:latin typeface="Cascadia Mono" panose="020B0609020000020004" pitchFamily="49" charset="0"/>
              </a:rPr>
              <a:t>'Quality Checks'</a:t>
            </a:r>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parallel {</a:t>
            </a:r>
          </a:p>
          <a:p>
            <a:r>
              <a:rPr lang="en-GB" sz="1600" b="1" dirty="0">
                <a:solidFill>
                  <a:srgbClr val="000000"/>
                </a:solidFill>
                <a:highlight>
                  <a:srgbClr val="FFFFFF"/>
                </a:highlight>
                <a:latin typeface="Cascadia Mono" panose="020B0609020000020004" pitchFamily="49" charset="0"/>
              </a:rPr>
              <a:t>        stage(</a:t>
            </a:r>
            <a:r>
              <a:rPr lang="en-GB" sz="1600" b="1" dirty="0">
                <a:solidFill>
                  <a:srgbClr val="A31515"/>
                </a:solidFill>
                <a:highlight>
                  <a:srgbClr val="FFFFFF"/>
                </a:highlight>
                <a:latin typeface="Cascadia Mono" panose="020B0609020000020004" pitchFamily="49" charset="0"/>
              </a:rPr>
              <a:t>'Unit Tests'</a:t>
            </a:r>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steps {</a:t>
            </a:r>
          </a:p>
          <a:p>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sh</a:t>
            </a:r>
            <a:r>
              <a:rPr lang="en-GB" sz="1600" b="1" dirty="0">
                <a:solidFill>
                  <a:srgbClr val="000000"/>
                </a:solidFill>
                <a:highlight>
                  <a:srgbClr val="FFFFFF"/>
                </a:highlight>
                <a:latin typeface="Cascadia Mono" panose="020B0609020000020004" pitchFamily="49" charset="0"/>
              </a:rPr>
              <a:t> </a:t>
            </a:r>
            <a:r>
              <a:rPr lang="en-GB" sz="1600" b="1" dirty="0">
                <a:solidFill>
                  <a:srgbClr val="A31515"/>
                </a:solidFill>
                <a:highlight>
                  <a:srgbClr val="FFFFFF"/>
                </a:highlight>
                <a:latin typeface="Cascadia Mono" panose="020B0609020000020004" pitchFamily="49" charset="0"/>
              </a:rPr>
              <a:t>'</a:t>
            </a:r>
            <a:r>
              <a:rPr lang="en-GB" sz="1600" b="1" dirty="0" err="1">
                <a:solidFill>
                  <a:srgbClr val="A31515"/>
                </a:solidFill>
                <a:highlight>
                  <a:srgbClr val="FFFFFF"/>
                </a:highlight>
                <a:latin typeface="Cascadia Mono" panose="020B0609020000020004" pitchFamily="49" charset="0"/>
              </a:rPr>
              <a:t>mvn</a:t>
            </a:r>
            <a:r>
              <a:rPr lang="en-GB" sz="1600" b="1" dirty="0">
                <a:solidFill>
                  <a:srgbClr val="A31515"/>
                </a:solidFill>
                <a:highlight>
                  <a:srgbClr val="FFFFFF"/>
                </a:highlight>
                <a:latin typeface="Cascadia Mono" panose="020B0609020000020004" pitchFamily="49" charset="0"/>
              </a:rPr>
              <a:t> test'</a:t>
            </a:r>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stage(</a:t>
            </a:r>
            <a:r>
              <a:rPr lang="en-GB" sz="1600" b="1" dirty="0">
                <a:solidFill>
                  <a:srgbClr val="A31515"/>
                </a:solidFill>
                <a:highlight>
                  <a:srgbClr val="FFFFFF"/>
                </a:highlight>
                <a:latin typeface="Cascadia Mono" panose="020B0609020000020004" pitchFamily="49" charset="0"/>
              </a:rPr>
              <a:t>'Linting'</a:t>
            </a:r>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steps {</a:t>
            </a:r>
          </a:p>
          <a:p>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sh</a:t>
            </a:r>
            <a:r>
              <a:rPr lang="en-GB" sz="1600" b="1" dirty="0">
                <a:solidFill>
                  <a:srgbClr val="000000"/>
                </a:solidFill>
                <a:highlight>
                  <a:srgbClr val="FFFFFF"/>
                </a:highlight>
                <a:latin typeface="Cascadia Mono" panose="020B0609020000020004" pitchFamily="49" charset="0"/>
              </a:rPr>
              <a:t> </a:t>
            </a:r>
            <a:r>
              <a:rPr lang="en-GB" sz="1600" b="1" dirty="0">
                <a:solidFill>
                  <a:srgbClr val="A31515"/>
                </a:solidFill>
                <a:highlight>
                  <a:srgbClr val="FFFFFF"/>
                </a:highlight>
                <a:latin typeface="Cascadia Mono" panose="020B0609020000020004" pitchFamily="49" charset="0"/>
              </a:rPr>
              <a:t>'</a:t>
            </a:r>
            <a:r>
              <a:rPr lang="en-GB" sz="1600" b="1" dirty="0" err="1">
                <a:solidFill>
                  <a:srgbClr val="A31515"/>
                </a:solidFill>
                <a:highlight>
                  <a:srgbClr val="FFFFFF"/>
                </a:highlight>
                <a:latin typeface="Cascadia Mono" panose="020B0609020000020004" pitchFamily="49" charset="0"/>
              </a:rPr>
              <a:t>mvn</a:t>
            </a:r>
            <a:r>
              <a:rPr lang="en-GB" sz="1600" b="1" dirty="0">
                <a:solidFill>
                  <a:srgbClr val="A31515"/>
                </a:solidFill>
                <a:highlight>
                  <a:srgbClr val="FFFFFF"/>
                </a:highlight>
                <a:latin typeface="Cascadia Mono" panose="020B0609020000020004" pitchFamily="49" charset="0"/>
              </a:rPr>
              <a:t> </a:t>
            </a:r>
            <a:r>
              <a:rPr lang="en-GB" sz="1600" b="1" dirty="0" err="1">
                <a:solidFill>
                  <a:srgbClr val="A31515"/>
                </a:solidFill>
                <a:highlight>
                  <a:srgbClr val="FFFFFF"/>
                </a:highlight>
                <a:latin typeface="Cascadia Mono" panose="020B0609020000020004" pitchFamily="49" charset="0"/>
              </a:rPr>
              <a:t>checkstyle:check</a:t>
            </a:r>
            <a:r>
              <a:rPr lang="en-GB" sz="1600" b="1" dirty="0">
                <a:solidFill>
                  <a:srgbClr val="A31515"/>
                </a:solidFill>
                <a:highlight>
                  <a:srgbClr val="FFFFFF"/>
                </a:highlight>
                <a:latin typeface="Cascadia Mono" panose="020B0609020000020004" pitchFamily="49" charset="0"/>
              </a:rPr>
              <a:t>'</a:t>
            </a:r>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300498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4F33-FB83-C79C-85E7-19D4C28D1C9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B1378B4-E190-7F4B-B621-C6E35C0D9E32}"/>
              </a:ext>
            </a:extLst>
          </p:cNvPr>
          <p:cNvSpPr>
            <a:spLocks noGrp="1"/>
          </p:cNvSpPr>
          <p:nvPr>
            <p:ph type="body" sz="quarter" idx="12"/>
          </p:nvPr>
        </p:nvSpPr>
        <p:spPr/>
        <p:txBody>
          <a:bodyPr/>
          <a:lstStyle/>
          <a:p>
            <a:r>
              <a:rPr lang="en-GB" b="1" dirty="0"/>
              <a:t>Conditional Stages</a:t>
            </a:r>
            <a:endParaRPr lang="en-GB" dirty="0"/>
          </a:p>
        </p:txBody>
      </p:sp>
      <p:sp>
        <p:nvSpPr>
          <p:cNvPr id="4" name="Text Placeholder 3">
            <a:extLst>
              <a:ext uri="{FF2B5EF4-FFF2-40B4-BE49-F238E27FC236}">
                <a16:creationId xmlns:a16="http://schemas.microsoft.com/office/drawing/2014/main" id="{D8048BF5-C7BD-880E-545D-B345B246E0AF}"/>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Not all stages need to run every time</a:t>
            </a:r>
          </a:p>
          <a:p>
            <a:pPr marL="342900" indent="-342900">
              <a:lnSpc>
                <a:spcPct val="150000"/>
              </a:lnSpc>
              <a:buSzPts val="1000"/>
              <a:buChar char="•"/>
              <a:tabLst>
                <a:tab pos="457200" algn="l"/>
              </a:tabLst>
            </a:pPr>
            <a:r>
              <a:rPr lang="en-GB" sz="2400" b="1" dirty="0">
                <a:latin typeface="Calibri" panose="020F0502020204030204" pitchFamily="34" charset="0"/>
              </a:rPr>
              <a:t>Conditions allow flexibility based on branch, environment, or parameters</a:t>
            </a:r>
          </a:p>
          <a:p>
            <a:pPr marL="342900" indent="-342900">
              <a:lnSpc>
                <a:spcPct val="150000"/>
              </a:lnSpc>
              <a:buSzPts val="1000"/>
              <a:buChar char="•"/>
              <a:tabLst>
                <a:tab pos="457200" algn="l"/>
              </a:tabLst>
            </a:pPr>
            <a:r>
              <a:rPr lang="en-GB" sz="2400" b="1" dirty="0">
                <a:latin typeface="Calibri" panose="020F0502020204030204" pitchFamily="34" charset="0"/>
              </a:rPr>
              <a:t>Example: deploy only when building the main branch</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679415F0-0378-E314-688A-7678EEC6548A}"/>
              </a:ext>
            </a:extLst>
          </p:cNvPr>
          <p:cNvSpPr>
            <a:spLocks noGrp="1"/>
          </p:cNvSpPr>
          <p:nvPr>
            <p:ph type="sldNum" sz="quarter" idx="4"/>
          </p:nvPr>
        </p:nvSpPr>
        <p:spPr/>
        <p:txBody>
          <a:bodyPr/>
          <a:lstStyle/>
          <a:p>
            <a:fld id="{EF892D59-8F09-EF4B-AD6D-DA609442F868}" type="slidenum">
              <a:rPr lang="en-GB" smtClean="0"/>
              <a:pPr/>
              <a:t>10</a:t>
            </a:fld>
            <a:endParaRPr lang="en-GB"/>
          </a:p>
        </p:txBody>
      </p:sp>
      <p:sp>
        <p:nvSpPr>
          <p:cNvPr id="10" name="TextBox 9">
            <a:extLst>
              <a:ext uri="{FF2B5EF4-FFF2-40B4-BE49-F238E27FC236}">
                <a16:creationId xmlns:a16="http://schemas.microsoft.com/office/drawing/2014/main" id="{D5FE8EAC-A331-48D0-6AB1-3DD11FC81343}"/>
              </a:ext>
            </a:extLst>
          </p:cNvPr>
          <p:cNvSpPr txBox="1"/>
          <p:nvPr/>
        </p:nvSpPr>
        <p:spPr>
          <a:xfrm>
            <a:off x="796585" y="3464455"/>
            <a:ext cx="5576047" cy="2062103"/>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00"/>
                </a:solidFill>
                <a:highlight>
                  <a:srgbClr val="FFFFFF"/>
                </a:highlight>
                <a:latin typeface="Cascadia Mono" panose="020B0609020000020004" pitchFamily="49" charset="0"/>
              </a:rPr>
              <a:t>stage</a:t>
            </a:r>
            <a:r>
              <a:rPr lang="en-GB" sz="1600" dirty="0">
                <a:solidFill>
                  <a:srgbClr val="000000"/>
                </a:solidFill>
                <a:highlight>
                  <a:srgbClr val="FFFFFF"/>
                </a:highlight>
                <a:latin typeface="Cascadia Mono" panose="020B0609020000020004" pitchFamily="49" charset="0"/>
              </a:rPr>
              <a:t>(</a:t>
            </a:r>
            <a:r>
              <a:rPr lang="en-GB" sz="1600" b="1" dirty="0">
                <a:solidFill>
                  <a:srgbClr val="A31515"/>
                </a:solidFill>
                <a:highlight>
                  <a:srgbClr val="FFFFFF"/>
                </a:highlight>
                <a:latin typeface="Cascadia Mono" panose="020B0609020000020004" pitchFamily="49" charset="0"/>
              </a:rPr>
              <a:t>'Deploy</a:t>
            </a:r>
            <a:r>
              <a:rPr lang="en-GB" sz="1600" dirty="0">
                <a:solidFill>
                  <a:srgbClr val="A31515"/>
                </a:solidFill>
                <a:highlight>
                  <a:srgbClr val="FFFFFF"/>
                </a:highlight>
                <a:latin typeface="Cascadia Mono" panose="020B0609020000020004" pitchFamily="49" charset="0"/>
              </a:rPr>
              <a:t>'</a:t>
            </a:r>
            <a:r>
              <a:rPr lang="en-GB" sz="1600" dirty="0">
                <a:solidFill>
                  <a:srgbClr val="000000"/>
                </a:solidFill>
                <a:highlight>
                  <a:srgbClr val="FFFFFF"/>
                </a:highlight>
                <a:latin typeface="Cascadia Mono" panose="020B0609020000020004" pitchFamily="49" charset="0"/>
              </a:rPr>
              <a:t>) {</a:t>
            </a:r>
          </a:p>
          <a:p>
            <a:r>
              <a:rPr lang="en-GB" sz="1600" dirty="0">
                <a:solidFill>
                  <a:srgbClr val="000000"/>
                </a:solidFill>
                <a:highlight>
                  <a:srgbClr val="FFFFFF"/>
                </a:highlight>
                <a:latin typeface="Cascadia Mono" panose="020B0609020000020004" pitchFamily="49" charset="0"/>
              </a:rPr>
              <a:t>    when {</a:t>
            </a:r>
          </a:p>
          <a:p>
            <a:r>
              <a:rPr lang="en-GB" sz="1600" dirty="0">
                <a:solidFill>
                  <a:srgbClr val="000000"/>
                </a:solidFill>
                <a:highlight>
                  <a:srgbClr val="FFFFFF"/>
                </a:highlight>
                <a:latin typeface="Cascadia Mono" panose="020B0609020000020004" pitchFamily="49" charset="0"/>
              </a:rPr>
              <a:t>        branch </a:t>
            </a:r>
            <a:r>
              <a:rPr lang="en-GB" sz="1600" dirty="0">
                <a:solidFill>
                  <a:srgbClr val="A31515"/>
                </a:solidFill>
                <a:highlight>
                  <a:srgbClr val="FFFFFF"/>
                </a:highlight>
                <a:latin typeface="Cascadia Mono" panose="020B0609020000020004" pitchFamily="49" charset="0"/>
              </a:rPr>
              <a:t>'main'</a:t>
            </a:r>
            <a:endParaRPr lang="en-GB" sz="1600" dirty="0">
              <a:solidFill>
                <a:srgbClr val="000000"/>
              </a:solidFill>
              <a:highlight>
                <a:srgbClr val="FFFFFF"/>
              </a:highlight>
              <a:latin typeface="Cascadia Mono" panose="020B0609020000020004" pitchFamily="49" charset="0"/>
            </a:endParaRPr>
          </a:p>
          <a:p>
            <a:r>
              <a:rPr lang="en-GB" sz="1600" dirty="0">
                <a:solidFill>
                  <a:srgbClr val="000000"/>
                </a:solidFill>
                <a:highlight>
                  <a:srgbClr val="FFFFFF"/>
                </a:highlight>
                <a:latin typeface="Cascadia Mono" panose="020B0609020000020004" pitchFamily="49" charset="0"/>
              </a:rPr>
              <a:t>    }</a:t>
            </a:r>
          </a:p>
          <a:p>
            <a:r>
              <a:rPr lang="en-GB" sz="1600" dirty="0">
                <a:solidFill>
                  <a:srgbClr val="000000"/>
                </a:solidFill>
                <a:highlight>
                  <a:srgbClr val="FFFFFF"/>
                </a:highlight>
                <a:latin typeface="Cascadia Mono" panose="020B0609020000020004" pitchFamily="49" charset="0"/>
              </a:rPr>
              <a:t>    steps {</a:t>
            </a:r>
          </a:p>
          <a:p>
            <a:r>
              <a:rPr lang="en-GB" sz="1600" dirty="0">
                <a:solidFill>
                  <a:srgbClr val="000000"/>
                </a:solidFill>
                <a:highlight>
                  <a:srgbClr val="FFFFFF"/>
                </a:highlight>
                <a:latin typeface="Cascadia Mono" panose="020B0609020000020004" pitchFamily="49" charset="0"/>
              </a:rPr>
              <a:t>        echo </a:t>
            </a:r>
            <a:r>
              <a:rPr lang="en-GB" sz="1600" dirty="0">
                <a:solidFill>
                  <a:srgbClr val="A31515"/>
                </a:solidFill>
                <a:highlight>
                  <a:srgbClr val="FFFFFF"/>
                </a:highlight>
                <a:latin typeface="Cascadia Mono" panose="020B0609020000020004" pitchFamily="49" charset="0"/>
              </a:rPr>
              <a:t>'Deploying to prod'</a:t>
            </a:r>
            <a:endParaRPr lang="en-GB" sz="1600" dirty="0">
              <a:solidFill>
                <a:srgbClr val="000000"/>
              </a:solidFill>
              <a:highlight>
                <a:srgbClr val="FFFFFF"/>
              </a:highlight>
              <a:latin typeface="Cascadia Mono" panose="020B0609020000020004" pitchFamily="49" charset="0"/>
            </a:endParaRPr>
          </a:p>
          <a:p>
            <a:r>
              <a:rPr lang="en-GB" sz="1600" dirty="0">
                <a:solidFill>
                  <a:srgbClr val="000000"/>
                </a:solidFill>
                <a:highlight>
                  <a:srgbClr val="FFFFFF"/>
                </a:highlight>
                <a:latin typeface="Cascadia Mono" panose="020B0609020000020004" pitchFamily="49" charset="0"/>
              </a:rPr>
              <a:t>    }</a:t>
            </a:r>
          </a:p>
          <a:p>
            <a:r>
              <a:rPr lang="en-GB" sz="1600" dirty="0">
                <a:solidFill>
                  <a:srgbClr val="000000"/>
                </a:solidFill>
                <a:highlight>
                  <a:srgbClr val="FFFFFF"/>
                </a:highlight>
                <a:latin typeface="Cascadia Mono" panose="020B0609020000020004" pitchFamily="49" charset="0"/>
              </a:rPr>
              <a:t>}</a:t>
            </a:r>
            <a:endParaRPr lang="en-GB" sz="1600" dirty="0"/>
          </a:p>
        </p:txBody>
      </p:sp>
    </p:spTree>
    <p:extLst>
      <p:ext uri="{BB962C8B-B14F-4D97-AF65-F5344CB8AC3E}">
        <p14:creationId xmlns:p14="http://schemas.microsoft.com/office/powerpoint/2010/main" val="228172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E8F34-7B08-88F6-8FDF-CAEDD075EAD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9F85969-CA94-E2D7-C08F-E8285980BFEE}"/>
              </a:ext>
            </a:extLst>
          </p:cNvPr>
          <p:cNvSpPr>
            <a:spLocks noGrp="1"/>
          </p:cNvSpPr>
          <p:nvPr>
            <p:ph type="body" sz="quarter" idx="12"/>
          </p:nvPr>
        </p:nvSpPr>
        <p:spPr/>
        <p:txBody>
          <a:bodyPr/>
          <a:lstStyle/>
          <a:p>
            <a:r>
              <a:rPr lang="en-GB" b="1" dirty="0"/>
              <a:t>Conditional Stages</a:t>
            </a:r>
            <a:endParaRPr lang="en-GB" dirty="0"/>
          </a:p>
        </p:txBody>
      </p:sp>
      <p:sp>
        <p:nvSpPr>
          <p:cNvPr id="4" name="Text Placeholder 3">
            <a:extLst>
              <a:ext uri="{FF2B5EF4-FFF2-40B4-BE49-F238E27FC236}">
                <a16:creationId xmlns:a16="http://schemas.microsoft.com/office/drawing/2014/main" id="{D55D138E-EF6F-9E51-B11E-8197168EAEEB}"/>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Not all stages need to run every time</a:t>
            </a:r>
          </a:p>
          <a:p>
            <a:pPr marL="342900" indent="-342900">
              <a:lnSpc>
                <a:spcPct val="150000"/>
              </a:lnSpc>
              <a:buSzPts val="1000"/>
              <a:buChar char="•"/>
              <a:tabLst>
                <a:tab pos="457200" algn="l"/>
              </a:tabLst>
            </a:pPr>
            <a:r>
              <a:rPr lang="en-GB" sz="2400" b="1" dirty="0">
                <a:latin typeface="Calibri" panose="020F0502020204030204" pitchFamily="34" charset="0"/>
              </a:rPr>
              <a:t>Conditions allow flexibility based on branch, environment, or parameters</a:t>
            </a:r>
          </a:p>
          <a:p>
            <a:pPr marL="342900" indent="-342900">
              <a:lnSpc>
                <a:spcPct val="150000"/>
              </a:lnSpc>
              <a:buSzPts val="1000"/>
              <a:buChar char="•"/>
              <a:tabLst>
                <a:tab pos="457200" algn="l"/>
              </a:tabLst>
            </a:pPr>
            <a:r>
              <a:rPr lang="en-GB" sz="2400" b="1" dirty="0">
                <a:latin typeface="Calibri" panose="020F0502020204030204" pitchFamily="34" charset="0"/>
              </a:rPr>
              <a:t>Example: run deply.sh batch file only when on prod environment</a:t>
            </a:r>
          </a:p>
          <a:p>
            <a:pPr marL="342900" indent="-342900">
              <a:lnSpc>
                <a:spcPct val="150000"/>
              </a:lnSpc>
              <a:buSzPts val="1000"/>
              <a:buChar char="•"/>
              <a:tabLst>
                <a:tab pos="457200" algn="l"/>
              </a:tabLst>
            </a:pPr>
            <a:br>
              <a:rPr lang="en-GB" sz="2400" b="1" dirty="0">
                <a:latin typeface="Calibri" panose="020F0502020204030204" pitchFamily="34" charset="0"/>
              </a:rPr>
            </a:br>
            <a:endParaRPr lang="en-GB" sz="2400" b="1" dirty="0">
              <a:latin typeface="Calibri" panose="020F0502020204030204" pitchFamily="34" charset="0"/>
            </a:endParaRP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AD8EBC5F-CF71-BDD9-2A6B-CC147E9FCB1B}"/>
              </a:ext>
            </a:extLst>
          </p:cNvPr>
          <p:cNvSpPr>
            <a:spLocks noGrp="1"/>
          </p:cNvSpPr>
          <p:nvPr>
            <p:ph type="sldNum" sz="quarter" idx="4"/>
          </p:nvPr>
        </p:nvSpPr>
        <p:spPr/>
        <p:txBody>
          <a:bodyPr/>
          <a:lstStyle/>
          <a:p>
            <a:fld id="{EF892D59-8F09-EF4B-AD6D-DA609442F868}" type="slidenum">
              <a:rPr lang="en-GB" smtClean="0"/>
              <a:pPr/>
              <a:t>11</a:t>
            </a:fld>
            <a:endParaRPr lang="en-GB"/>
          </a:p>
        </p:txBody>
      </p:sp>
      <p:sp>
        <p:nvSpPr>
          <p:cNvPr id="9" name="TextBox 8">
            <a:extLst>
              <a:ext uri="{FF2B5EF4-FFF2-40B4-BE49-F238E27FC236}">
                <a16:creationId xmlns:a16="http://schemas.microsoft.com/office/drawing/2014/main" id="{4EE81100-A06D-0321-A795-5F353D4B9BD9}"/>
              </a:ext>
            </a:extLst>
          </p:cNvPr>
          <p:cNvSpPr txBox="1"/>
          <p:nvPr/>
        </p:nvSpPr>
        <p:spPr>
          <a:xfrm>
            <a:off x="964299" y="3356475"/>
            <a:ext cx="6111550" cy="2893100"/>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GB" sz="1600" b="1" dirty="0">
                <a:effectLst/>
                <a:latin typeface="Segoe UI" panose="020B0502040204020203" pitchFamily="34" charset="0"/>
              </a:rPr>
              <a:t>stage(</a:t>
            </a:r>
            <a:r>
              <a:rPr lang="en-GB" sz="1600" b="1" dirty="0">
                <a:solidFill>
                  <a:srgbClr val="A31515"/>
                </a:solidFill>
                <a:highlight>
                  <a:srgbClr val="FFFFFF"/>
                </a:highlight>
                <a:latin typeface="Cascadia Mono" panose="020B0609020000020004" pitchFamily="49" charset="0"/>
              </a:rPr>
              <a:t>'Deploy</a:t>
            </a:r>
            <a:r>
              <a:rPr lang="en-GB" sz="1600" b="1" dirty="0">
                <a:effectLst/>
                <a:latin typeface="Segoe UI" panose="020B0502040204020203" pitchFamily="34" charset="0"/>
              </a:rPr>
              <a:t>') {</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environment {</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	ENV = </a:t>
            </a:r>
            <a:r>
              <a:rPr lang="en-GB" sz="1600" b="1" dirty="0">
                <a:solidFill>
                  <a:schemeClr val="accent4">
                    <a:lumMod val="50000"/>
                  </a:schemeClr>
                </a:solidFill>
                <a:effectLst/>
                <a:latin typeface="Segoe UI" panose="020B0502040204020203" pitchFamily="34" charset="0"/>
              </a:rPr>
              <a:t>'prod</a:t>
            </a:r>
            <a:r>
              <a:rPr lang="en-GB" sz="1600" b="1" dirty="0">
                <a:effectLst/>
                <a:latin typeface="Segoe UI" panose="020B0502040204020203" pitchFamily="34" charset="0"/>
              </a:rPr>
              <a:t>'</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when {</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	environment name: </a:t>
            </a:r>
            <a:r>
              <a:rPr lang="en-GB" sz="1600" b="1" dirty="0">
                <a:solidFill>
                  <a:schemeClr val="accent4">
                    <a:lumMod val="50000"/>
                  </a:schemeClr>
                </a:solidFill>
                <a:effectLst/>
                <a:latin typeface="Segoe UI" panose="020B0502040204020203" pitchFamily="34" charset="0"/>
              </a:rPr>
              <a:t>'ENV</a:t>
            </a:r>
            <a:r>
              <a:rPr lang="en-GB" sz="1600" b="1" dirty="0">
                <a:effectLst/>
                <a:latin typeface="Segoe UI" panose="020B0502040204020203" pitchFamily="34" charset="0"/>
              </a:rPr>
              <a:t>', value: </a:t>
            </a:r>
            <a:r>
              <a:rPr lang="en-GB" sz="1600" b="1" dirty="0">
                <a:solidFill>
                  <a:schemeClr val="accent4">
                    <a:lumMod val="50000"/>
                  </a:schemeClr>
                </a:solidFill>
                <a:effectLst/>
                <a:latin typeface="Segoe UI" panose="020B0502040204020203" pitchFamily="34" charset="0"/>
              </a:rPr>
              <a:t>'prod</a:t>
            </a:r>
            <a:r>
              <a:rPr lang="en-GB" sz="1600" b="1" dirty="0">
                <a:effectLst/>
                <a:latin typeface="Segoe UI" panose="020B0502040204020203" pitchFamily="34" charset="0"/>
              </a:rPr>
              <a:t>'</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steps {</a:t>
            </a:r>
            <a:endParaRPr lang="en-GB" sz="1400" b="1" dirty="0">
              <a:effectLst/>
              <a:latin typeface="Arial" panose="020B0604020202020204" pitchFamily="34" charset="0"/>
            </a:endParaRPr>
          </a:p>
          <a:p>
            <a:pPr lvl="1"/>
            <a:r>
              <a:rPr lang="en-GB" sz="1600" b="1" dirty="0">
                <a:latin typeface="Segoe UI" panose="020B0502040204020203" pitchFamily="34" charset="0"/>
              </a:rPr>
              <a:t>	</a:t>
            </a:r>
            <a:r>
              <a:rPr lang="en-GB" sz="1600" b="1" dirty="0" err="1">
                <a:latin typeface="Segoe UI" panose="020B0502040204020203" pitchFamily="34" charset="0"/>
              </a:rPr>
              <a:t>sh</a:t>
            </a:r>
            <a:r>
              <a:rPr lang="en-GB" sz="1600" b="1" dirty="0">
                <a:latin typeface="Segoe UI" panose="020B0502040204020203" pitchFamily="34" charset="0"/>
              </a:rPr>
              <a:t> './deploy.sh'</a:t>
            </a:r>
            <a:endParaRPr lang="en-GB" sz="1400" b="1" dirty="0">
              <a:effectLst/>
              <a:latin typeface="Arial" panose="020B0604020202020204" pitchFamily="34" charset="0"/>
            </a:endParaRPr>
          </a:p>
          <a:p>
            <a:pPr lvl="1"/>
            <a:r>
              <a:rPr lang="en-GB" sz="1600" b="1" dirty="0">
                <a:effectLst/>
                <a:latin typeface="Segoe UI" panose="020B0502040204020203" pitchFamily="34" charset="0"/>
              </a:rPr>
              <a:t>}</a:t>
            </a:r>
            <a:endParaRPr lang="en-GB" sz="1400" b="1" dirty="0">
              <a:effectLst/>
              <a:latin typeface="Arial" panose="020B0604020202020204" pitchFamily="34" charset="0"/>
            </a:endParaRPr>
          </a:p>
          <a:p>
            <a:pPr>
              <a:buNone/>
            </a:pPr>
            <a:r>
              <a:rPr lang="en-GB" sz="1600" b="1" dirty="0">
                <a:effectLst/>
                <a:latin typeface="Segoe UI" panose="020B0502040204020203" pitchFamily="34" charset="0"/>
              </a:rPr>
              <a:t>}</a:t>
            </a:r>
            <a:endParaRPr lang="en-GB" sz="1400" b="1" dirty="0">
              <a:effectLst/>
              <a:latin typeface="Arial" panose="020B0604020202020204" pitchFamily="34" charset="0"/>
            </a:endParaRPr>
          </a:p>
        </p:txBody>
      </p:sp>
    </p:spTree>
    <p:extLst>
      <p:ext uri="{BB962C8B-B14F-4D97-AF65-F5344CB8AC3E}">
        <p14:creationId xmlns:p14="http://schemas.microsoft.com/office/powerpoint/2010/main" val="1613308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EE3E-B5FB-8BDA-EB6D-21442938B13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0DABE05-0AB0-F343-CB8C-C8A50EB5F6D2}"/>
              </a:ext>
            </a:extLst>
          </p:cNvPr>
          <p:cNvSpPr>
            <a:spLocks noGrp="1"/>
          </p:cNvSpPr>
          <p:nvPr>
            <p:ph type="body" sz="quarter" idx="12"/>
          </p:nvPr>
        </p:nvSpPr>
        <p:spPr/>
        <p:txBody>
          <a:bodyPr/>
          <a:lstStyle/>
          <a:p>
            <a:r>
              <a:rPr lang="en-GB" b="1" dirty="0"/>
              <a:t>Manual Approvals</a:t>
            </a:r>
            <a:endParaRPr lang="en-GB" dirty="0"/>
          </a:p>
        </p:txBody>
      </p:sp>
      <p:sp>
        <p:nvSpPr>
          <p:cNvPr id="4" name="Text Placeholder 3">
            <a:extLst>
              <a:ext uri="{FF2B5EF4-FFF2-40B4-BE49-F238E27FC236}">
                <a16:creationId xmlns:a16="http://schemas.microsoft.com/office/drawing/2014/main" id="{4E33E9EA-3886-D0A1-5BFE-82EE9D2EAF1B}"/>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Pause the pipeline at critical points</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Require human confirmation </a:t>
            </a:r>
            <a:br>
              <a:rPr lang="en-GB" sz="2400" b="1" dirty="0">
                <a:latin typeface="Calibri" panose="020F0502020204030204" pitchFamily="34" charset="0"/>
              </a:rPr>
            </a:br>
            <a:r>
              <a:rPr lang="en-GB" sz="2400" b="1" dirty="0">
                <a:latin typeface="Calibri" panose="020F0502020204030204" pitchFamily="34" charset="0"/>
              </a:rPr>
              <a:t>before proceeding</a:t>
            </a:r>
          </a:p>
          <a:p>
            <a:pPr marL="342900" indent="-342900">
              <a:buSzPts val="1000"/>
              <a:buChar char="•"/>
              <a:tabLst>
                <a:tab pos="457200" algn="l"/>
              </a:tabLst>
            </a:pP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Typically used before deploying </a:t>
            </a:r>
            <a:br>
              <a:rPr lang="en-GB" sz="2400" b="1" dirty="0">
                <a:latin typeface="Calibri" panose="020F0502020204030204" pitchFamily="34" charset="0"/>
              </a:rPr>
            </a:br>
            <a:r>
              <a:rPr lang="en-GB" sz="2400" b="1" dirty="0">
                <a:latin typeface="Calibri" panose="020F0502020204030204" pitchFamily="34" charset="0"/>
              </a:rPr>
              <a:t>to production</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05591091-C343-8F45-3A82-2DB9CB4E1FBC}"/>
              </a:ext>
            </a:extLst>
          </p:cNvPr>
          <p:cNvSpPr>
            <a:spLocks noGrp="1"/>
          </p:cNvSpPr>
          <p:nvPr>
            <p:ph type="sldNum" sz="quarter" idx="4"/>
          </p:nvPr>
        </p:nvSpPr>
        <p:spPr/>
        <p:txBody>
          <a:bodyPr/>
          <a:lstStyle/>
          <a:p>
            <a:fld id="{EF892D59-8F09-EF4B-AD6D-DA609442F868}" type="slidenum">
              <a:rPr lang="en-GB" smtClean="0"/>
              <a:pPr/>
              <a:t>12</a:t>
            </a:fld>
            <a:endParaRPr lang="en-GB"/>
          </a:p>
        </p:txBody>
      </p:sp>
      <p:sp>
        <p:nvSpPr>
          <p:cNvPr id="6" name="TextBox 5">
            <a:extLst>
              <a:ext uri="{FF2B5EF4-FFF2-40B4-BE49-F238E27FC236}">
                <a16:creationId xmlns:a16="http://schemas.microsoft.com/office/drawing/2014/main" id="{831BD6C7-1601-02F1-D5A1-C484691F96EF}"/>
              </a:ext>
            </a:extLst>
          </p:cNvPr>
          <p:cNvSpPr txBox="1"/>
          <p:nvPr/>
        </p:nvSpPr>
        <p:spPr>
          <a:xfrm>
            <a:off x="5988706" y="674492"/>
            <a:ext cx="6096000" cy="612475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'Testing'</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'Approve Production 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input message: </a:t>
            </a:r>
            <a:r>
              <a:rPr lang="en-GB" sz="1400" b="1" dirty="0">
                <a:solidFill>
                  <a:srgbClr val="A31515"/>
                </a:solidFill>
                <a:highlight>
                  <a:srgbClr val="FFFFFF"/>
                </a:highlight>
                <a:latin typeface="Cascadia Mono" panose="020B0609020000020004" pitchFamily="49" charset="0"/>
              </a:rPr>
              <a:t>'Deploy to production?'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to production'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
        <p:nvSpPr>
          <p:cNvPr id="7" name="Rectangle 2">
            <a:extLst>
              <a:ext uri="{FF2B5EF4-FFF2-40B4-BE49-F238E27FC236}">
                <a16:creationId xmlns:a16="http://schemas.microsoft.com/office/drawing/2014/main" id="{55E87036-26F5-4A1B-A9DE-0B331127BE9F}"/>
              </a:ext>
            </a:extLst>
          </p:cNvPr>
          <p:cNvSpPr>
            <a:spLocks noChangeArrowheads="1"/>
          </p:cNvSpPr>
          <p:nvPr/>
        </p:nvSpPr>
        <p:spPr bwMode="auto">
          <a:xfrm>
            <a:off x="684245" y="5318715"/>
            <a:ext cx="50275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wait</a:t>
            </a:r>
            <a:r>
              <a:rPr kumimoji="0" lang="en-US" altLang="en-US" sz="1800" b="0" i="0" u="none" strike="noStrike" cap="none" normalizeH="0" baseline="0" dirty="0">
                <a:ln>
                  <a:noFill/>
                </a:ln>
                <a:solidFill>
                  <a:schemeClr val="tx1"/>
                </a:solidFill>
                <a:effectLst/>
                <a:latin typeface="Arial" panose="020B0604020202020204" pitchFamily="34" charset="0"/>
              </a:rPr>
              <a:t> until someone approves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If the user clicks </a:t>
            </a:r>
            <a:r>
              <a:rPr kumimoji="0" lang="en-US" altLang="en-US" sz="1800" b="1" i="0" u="none" strike="noStrike" cap="none" normalizeH="0" baseline="0" dirty="0">
                <a:ln>
                  <a:noFill/>
                </a:ln>
                <a:solidFill>
                  <a:schemeClr val="tx1"/>
                </a:solidFill>
                <a:effectLst/>
                <a:latin typeface="Arial" panose="020B0604020202020204" pitchFamily="34" charset="0"/>
              </a:rPr>
              <a:t>Abort</a:t>
            </a:r>
            <a:r>
              <a:rPr kumimoji="0" lang="en-US" altLang="en-US" sz="1800" b="0" i="0" u="none" strike="noStrike" cap="none" normalizeH="0" baseline="0" dirty="0">
                <a:ln>
                  <a:noFill/>
                </a:ln>
                <a:solidFill>
                  <a:schemeClr val="tx1"/>
                </a:solidFill>
                <a:effectLst/>
                <a:latin typeface="Arial" panose="020B0604020202020204" pitchFamily="34" charset="0"/>
              </a:rPr>
              <a:t>, the pipeline will stop.</a:t>
            </a:r>
          </a:p>
        </p:txBody>
      </p:sp>
      <p:sp>
        <p:nvSpPr>
          <p:cNvPr id="8" name="Arrow: Right 7">
            <a:extLst>
              <a:ext uri="{FF2B5EF4-FFF2-40B4-BE49-F238E27FC236}">
                <a16:creationId xmlns:a16="http://schemas.microsoft.com/office/drawing/2014/main" id="{FA04A624-76D2-F126-791A-1F63CA2E3ECF}"/>
              </a:ext>
            </a:extLst>
          </p:cNvPr>
          <p:cNvSpPr/>
          <p:nvPr/>
        </p:nvSpPr>
        <p:spPr>
          <a:xfrm>
            <a:off x="5374435" y="5529914"/>
            <a:ext cx="427661" cy="541628"/>
          </a:xfrm>
          <a:prstGeom prst="rightArrow">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79088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EC7D-8D1F-2921-8061-4005AB8B8E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789E755-59DE-026D-DCB0-713BE3E3C629}"/>
              </a:ext>
            </a:extLst>
          </p:cNvPr>
          <p:cNvSpPr>
            <a:spLocks noGrp="1"/>
          </p:cNvSpPr>
          <p:nvPr>
            <p:ph type="body" sz="quarter" idx="12"/>
          </p:nvPr>
        </p:nvSpPr>
        <p:spPr/>
        <p:txBody>
          <a:bodyPr/>
          <a:lstStyle/>
          <a:p>
            <a:r>
              <a:rPr lang="en-GB" b="1" dirty="0"/>
              <a:t>Common Parameter Types</a:t>
            </a:r>
            <a:endParaRPr lang="en-GB" dirty="0"/>
          </a:p>
        </p:txBody>
      </p:sp>
      <p:sp>
        <p:nvSpPr>
          <p:cNvPr id="4" name="Text Placeholder 3">
            <a:extLst>
              <a:ext uri="{FF2B5EF4-FFF2-40B4-BE49-F238E27FC236}">
                <a16:creationId xmlns:a16="http://schemas.microsoft.com/office/drawing/2014/main" id="{1902EAF1-05E3-CEC8-A27D-4BAE6A2883CD}"/>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String: free-form text input</a:t>
            </a:r>
          </a:p>
          <a:p>
            <a:pPr marL="342900" indent="-342900">
              <a:lnSpc>
                <a:spcPct val="150000"/>
              </a:lnSpc>
              <a:buSzPts val="1000"/>
              <a:buChar char="•"/>
              <a:tabLst>
                <a:tab pos="457200" algn="l"/>
              </a:tabLst>
            </a:pPr>
            <a:r>
              <a:rPr lang="en-GB" sz="2400" b="1" dirty="0">
                <a:latin typeface="Calibri" panose="020F0502020204030204" pitchFamily="34" charset="0"/>
              </a:rPr>
              <a:t>Choice: dropdown selection</a:t>
            </a:r>
          </a:p>
          <a:p>
            <a:pPr marL="342900" indent="-342900">
              <a:lnSpc>
                <a:spcPct val="150000"/>
              </a:lnSpc>
              <a:buSzPts val="1000"/>
              <a:buChar char="•"/>
              <a:tabLst>
                <a:tab pos="457200" algn="l"/>
              </a:tabLst>
            </a:pPr>
            <a:r>
              <a:rPr lang="en-GB" sz="2400" b="1" dirty="0">
                <a:latin typeface="Calibri" panose="020F0502020204030204" pitchFamily="34" charset="0"/>
              </a:rPr>
              <a:t>Boolean: true/false switch</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0205F441-B331-B2B0-0CF5-8D66980DDF26}"/>
              </a:ext>
            </a:extLst>
          </p:cNvPr>
          <p:cNvSpPr>
            <a:spLocks noGrp="1"/>
          </p:cNvSpPr>
          <p:nvPr>
            <p:ph type="sldNum" sz="quarter" idx="4"/>
          </p:nvPr>
        </p:nvSpPr>
        <p:spPr/>
        <p:txBody>
          <a:bodyPr/>
          <a:lstStyle/>
          <a:p>
            <a:fld id="{EF892D59-8F09-EF4B-AD6D-DA609442F868}" type="slidenum">
              <a:rPr lang="en-GB" smtClean="0"/>
              <a:pPr/>
              <a:t>13</a:t>
            </a:fld>
            <a:endParaRPr lang="en-GB"/>
          </a:p>
        </p:txBody>
      </p:sp>
      <p:sp>
        <p:nvSpPr>
          <p:cNvPr id="3" name="TextBox 2">
            <a:extLst>
              <a:ext uri="{FF2B5EF4-FFF2-40B4-BE49-F238E27FC236}">
                <a16:creationId xmlns:a16="http://schemas.microsoft.com/office/drawing/2014/main" id="{2AA22C7A-308E-4586-06EB-9D5AD259678A}"/>
              </a:ext>
            </a:extLst>
          </p:cNvPr>
          <p:cNvSpPr txBox="1"/>
          <p:nvPr/>
        </p:nvSpPr>
        <p:spPr>
          <a:xfrm>
            <a:off x="5564307" y="1989418"/>
            <a:ext cx="5384430" cy="418576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parameters {</a:t>
            </a:r>
          </a:p>
          <a:p>
            <a:r>
              <a:rPr lang="en-GB" sz="1400" b="1" dirty="0">
                <a:solidFill>
                  <a:srgbClr val="000000"/>
                </a:solidFill>
                <a:highlight>
                  <a:srgbClr val="FFFFFF"/>
                </a:highlight>
                <a:latin typeface="Cascadia Mono" panose="020B0609020000020004" pitchFamily="49" charset="0"/>
              </a:rPr>
              <a:t>        choice(</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'ENV'</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choices: [</a:t>
            </a:r>
            <a:r>
              <a:rPr lang="en-GB" sz="1400" b="1" dirty="0">
                <a:solidFill>
                  <a:srgbClr val="A31515"/>
                </a:solidFill>
                <a:highlight>
                  <a:srgbClr val="FFFFFF"/>
                </a:highlight>
                <a:latin typeface="Cascadia Mono" panose="020B0609020000020004" pitchFamily="49" charset="0"/>
              </a:rPr>
              <a:t>'dev'</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'prod'</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'Target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string(</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'VERSION'</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'1.0.0'</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'Application version'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booleanParam</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'RUN_EXTRA_TESTS'</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0000FF"/>
                </a:solidFill>
                <a:highlight>
                  <a:srgbClr val="FFFFFF"/>
                </a:highlight>
                <a:latin typeface="Cascadia Mono" panose="020B0609020000020004" pitchFamily="49" charset="0"/>
              </a:rPr>
              <a:t>false</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'Enable extra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4155830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2177-C59D-71C3-2B01-E43752D41FB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70CC44C-2E3D-BB81-D81E-8FFC1A7611E1}"/>
              </a:ext>
            </a:extLst>
          </p:cNvPr>
          <p:cNvSpPr>
            <a:spLocks noGrp="1"/>
          </p:cNvSpPr>
          <p:nvPr>
            <p:ph type="body" sz="quarter" idx="12"/>
          </p:nvPr>
        </p:nvSpPr>
        <p:spPr/>
        <p:txBody>
          <a:bodyPr/>
          <a:lstStyle/>
          <a:p>
            <a:r>
              <a:rPr lang="en-GB" b="1" dirty="0"/>
              <a:t>Parameters</a:t>
            </a:r>
            <a:endParaRPr lang="en-GB" dirty="0"/>
          </a:p>
        </p:txBody>
      </p:sp>
      <p:sp>
        <p:nvSpPr>
          <p:cNvPr id="4" name="Text Placeholder 3">
            <a:extLst>
              <a:ext uri="{FF2B5EF4-FFF2-40B4-BE49-F238E27FC236}">
                <a16:creationId xmlns:a16="http://schemas.microsoft.com/office/drawing/2014/main" id="{1E1391E8-C67A-3DE7-CFA7-18E022C0FEC1}"/>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000" b="1" dirty="0">
                <a:latin typeface="Calibri" panose="020F0502020204030204" pitchFamily="34" charset="0"/>
              </a:rPr>
              <a:t>Accept input from users at runtime</a:t>
            </a:r>
          </a:p>
          <a:p>
            <a:pPr marL="342900" indent="-342900">
              <a:buSzPts val="1000"/>
              <a:buChar char="•"/>
              <a:tabLst>
                <a:tab pos="457200" algn="l"/>
              </a:tabLst>
            </a:pPr>
            <a:r>
              <a:rPr lang="en-GB" sz="2000" b="1" dirty="0">
                <a:latin typeface="Calibri" panose="020F0502020204030204" pitchFamily="34" charset="0"/>
              </a:rPr>
              <a:t>Examples: environment, version number</a:t>
            </a:r>
          </a:p>
          <a:p>
            <a:pPr marL="342900" indent="-342900">
              <a:buSzPts val="1000"/>
              <a:buChar char="•"/>
              <a:tabLst>
                <a:tab pos="457200" algn="l"/>
              </a:tabLst>
            </a:pPr>
            <a:r>
              <a:rPr lang="en-GB" sz="2000" b="1" dirty="0">
                <a:latin typeface="Calibri" panose="020F0502020204030204" pitchFamily="34" charset="0"/>
              </a:rPr>
              <a:t>Avoid duplicating jobs for different scenarios</a:t>
            </a:r>
          </a:p>
          <a:p>
            <a:pPr marL="342900" indent="-342900">
              <a:buSzPts val="1000"/>
              <a:buChar char="•"/>
              <a:tabLst>
                <a:tab pos="457200" algn="l"/>
              </a:tabLst>
            </a:pPr>
            <a:endParaRPr lang="en-GB" sz="20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30EB30D0-CB02-DD7A-8C9A-826B05ECE0FD}"/>
              </a:ext>
            </a:extLst>
          </p:cNvPr>
          <p:cNvSpPr>
            <a:spLocks noGrp="1"/>
          </p:cNvSpPr>
          <p:nvPr>
            <p:ph type="sldNum" sz="quarter" idx="4"/>
          </p:nvPr>
        </p:nvSpPr>
        <p:spPr/>
        <p:txBody>
          <a:bodyPr/>
          <a:lstStyle/>
          <a:p>
            <a:fld id="{EF892D59-8F09-EF4B-AD6D-DA609442F868}" type="slidenum">
              <a:rPr lang="en-GB" smtClean="0"/>
              <a:pPr/>
              <a:t>14</a:t>
            </a:fld>
            <a:endParaRPr lang="en-GB"/>
          </a:p>
        </p:txBody>
      </p:sp>
      <p:sp>
        <p:nvSpPr>
          <p:cNvPr id="6" name="TextBox 5">
            <a:extLst>
              <a:ext uri="{FF2B5EF4-FFF2-40B4-BE49-F238E27FC236}">
                <a16:creationId xmlns:a16="http://schemas.microsoft.com/office/drawing/2014/main" id="{31BB5FBD-8E45-B262-45A6-7A35D89C3B2A}"/>
              </a:ext>
            </a:extLst>
          </p:cNvPr>
          <p:cNvSpPr txBox="1"/>
          <p:nvPr/>
        </p:nvSpPr>
        <p:spPr>
          <a:xfrm>
            <a:off x="376237" y="2965021"/>
            <a:ext cx="5120490" cy="3108543"/>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parameters {</a:t>
            </a:r>
          </a:p>
          <a:p>
            <a:r>
              <a:rPr lang="en-GB" sz="1400" b="1" dirty="0">
                <a:solidFill>
                  <a:srgbClr val="000000"/>
                </a:solidFill>
                <a:highlight>
                  <a:srgbClr val="FFFFFF"/>
                </a:highlight>
                <a:latin typeface="Cascadia Mono" panose="020B0609020000020004" pitchFamily="49" charset="0"/>
              </a:rPr>
              <a:t>        choice(</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'ENV'</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choices: [</a:t>
            </a:r>
            <a:r>
              <a:rPr lang="en-GB" sz="1400" b="1" dirty="0">
                <a:solidFill>
                  <a:srgbClr val="A31515"/>
                </a:solidFill>
                <a:highlight>
                  <a:srgbClr val="FFFFFF"/>
                </a:highlight>
                <a:latin typeface="Cascadia Mono" panose="020B0609020000020004" pitchFamily="49" charset="0"/>
              </a:rPr>
              <a:t>'dev'</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'prod'</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'Target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string(</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'VERSION'</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'1.0.0'</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'Application version'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
        <p:nvSpPr>
          <p:cNvPr id="7" name="TextBox 6">
            <a:extLst>
              <a:ext uri="{FF2B5EF4-FFF2-40B4-BE49-F238E27FC236}">
                <a16:creationId xmlns:a16="http://schemas.microsoft.com/office/drawing/2014/main" id="{B850E4C0-000E-E907-D597-BDC6514FD448}"/>
              </a:ext>
            </a:extLst>
          </p:cNvPr>
          <p:cNvSpPr txBox="1"/>
          <p:nvPr/>
        </p:nvSpPr>
        <p:spPr>
          <a:xfrm>
            <a:off x="5717891" y="636172"/>
            <a:ext cx="6065136" cy="612475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latin typeface="Cascadia Mono" panose="020B0609020000020004" pitchFamily="49" charset="0"/>
              </a:rPr>
              <a:t>stages {</a:t>
            </a:r>
          </a:p>
          <a:p>
            <a:r>
              <a:rPr lang="en-GB" sz="1400" b="1" dirty="0">
                <a:solidFill>
                  <a:srgbClr val="000000"/>
                </a:solidFill>
                <a:latin typeface="Cascadia Mono" panose="020B0609020000020004" pitchFamily="49" charset="0"/>
              </a:rPr>
              <a:t>    stage(</a:t>
            </a:r>
            <a:r>
              <a:rPr lang="en-GB" sz="1400" b="1" dirty="0">
                <a:solidFill>
                  <a:schemeClr val="accent4">
                    <a:lumMod val="50000"/>
                  </a:schemeClr>
                </a:solidFill>
                <a:latin typeface="Cascadia Mono" panose="020B0609020000020004" pitchFamily="49" charset="0"/>
              </a:rPr>
              <a:t>'Build</a:t>
            </a:r>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steps {</a:t>
            </a:r>
          </a:p>
          <a:p>
            <a:r>
              <a:rPr lang="en-GB" sz="1400" b="1" dirty="0">
                <a:solidFill>
                  <a:srgbClr val="000000"/>
                </a:solidFill>
                <a:latin typeface="Cascadia Mono" panose="020B0609020000020004" pitchFamily="49" charset="0"/>
              </a:rPr>
              <a:t>            echo "Building version ${</a:t>
            </a:r>
            <a:r>
              <a:rPr lang="en-GB" sz="1400" b="1" dirty="0" err="1">
                <a:solidFill>
                  <a:srgbClr val="A31515"/>
                </a:solidFill>
                <a:highlight>
                  <a:srgbClr val="FFFFFF"/>
                </a:highlight>
                <a:latin typeface="Cascadia Mono" panose="020B0609020000020004" pitchFamily="49" charset="0"/>
              </a:rPr>
              <a:t>params</a:t>
            </a:r>
            <a:r>
              <a:rPr lang="en-GB" sz="1400" b="1" dirty="0" err="1">
                <a:solidFill>
                  <a:srgbClr val="000000"/>
                </a:solidFill>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VERSION</a:t>
            </a:r>
            <a:r>
              <a:rPr lang="en-GB" sz="1400" b="1" dirty="0">
                <a:solidFill>
                  <a:srgbClr val="000000"/>
                </a:solidFill>
                <a:latin typeface="Cascadia Mono" panose="020B0609020000020004" pitchFamily="49" charset="0"/>
              </a:rPr>
              <a:t>}"</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p>
          <a:p>
            <a:endParaRPr lang="en-GB" sz="1400" b="1" dirty="0">
              <a:solidFill>
                <a:srgbClr val="000000"/>
              </a:solidFill>
              <a:latin typeface="Cascadia Mono" panose="020B0609020000020004" pitchFamily="49" charset="0"/>
            </a:endParaRPr>
          </a:p>
          <a:p>
            <a:r>
              <a:rPr lang="en-GB" sz="1400" b="1" dirty="0">
                <a:solidFill>
                  <a:srgbClr val="000000"/>
                </a:solidFill>
                <a:latin typeface="Cascadia Mono" panose="020B0609020000020004" pitchFamily="49" charset="0"/>
              </a:rPr>
              <a:t>    stage(</a:t>
            </a:r>
            <a:r>
              <a:rPr lang="en-GB" sz="1400" b="1" dirty="0">
                <a:solidFill>
                  <a:schemeClr val="accent4">
                    <a:lumMod val="50000"/>
                  </a:schemeClr>
                </a:solidFill>
                <a:latin typeface="Cascadia Mono" panose="020B0609020000020004" pitchFamily="49" charset="0"/>
              </a:rPr>
              <a:t>'Test</a:t>
            </a:r>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steps {</a:t>
            </a:r>
          </a:p>
          <a:p>
            <a:r>
              <a:rPr lang="en-GB" sz="1400" b="1" dirty="0">
                <a:solidFill>
                  <a:srgbClr val="000000"/>
                </a:solidFill>
                <a:latin typeface="Cascadia Mono" panose="020B0609020000020004" pitchFamily="49" charset="0"/>
              </a:rPr>
              <a:t>            echo "Running tests in ${</a:t>
            </a:r>
            <a:r>
              <a:rPr lang="en-GB" sz="1400" b="1" dirty="0" err="1">
                <a:solidFill>
                  <a:srgbClr val="A31515"/>
                </a:solidFill>
                <a:highlight>
                  <a:srgbClr val="FFFFFF"/>
                </a:highlight>
                <a:latin typeface="Cascadia Mono" panose="020B0609020000020004" pitchFamily="49" charset="0"/>
              </a:rPr>
              <a:t>params</a:t>
            </a:r>
            <a:r>
              <a:rPr lang="en-GB" sz="1400" b="1" dirty="0" err="1">
                <a:solidFill>
                  <a:srgbClr val="000000"/>
                </a:solidFill>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ENV</a:t>
            </a:r>
            <a:r>
              <a:rPr lang="en-GB" sz="1400" b="1" dirty="0">
                <a:solidFill>
                  <a:srgbClr val="000000"/>
                </a:solidFill>
                <a:latin typeface="Cascadia Mono" panose="020B0609020000020004" pitchFamily="49" charset="0"/>
              </a:rPr>
              <a:t>}"</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p>
          <a:p>
            <a:endParaRPr lang="en-GB" sz="1400" b="1" dirty="0">
              <a:solidFill>
                <a:srgbClr val="000000"/>
              </a:solidFill>
              <a:latin typeface="Cascadia Mono" panose="020B0609020000020004" pitchFamily="49" charset="0"/>
            </a:endParaRPr>
          </a:p>
          <a:p>
            <a:r>
              <a:rPr lang="en-GB" sz="1400" b="1" dirty="0">
                <a:solidFill>
                  <a:srgbClr val="000000"/>
                </a:solidFill>
                <a:latin typeface="Cascadia Mono" panose="020B0609020000020004" pitchFamily="49" charset="0"/>
              </a:rPr>
              <a:t>    stage(</a:t>
            </a:r>
            <a:r>
              <a:rPr lang="en-GB" sz="1400" b="1" dirty="0">
                <a:solidFill>
                  <a:schemeClr val="accent4">
                    <a:lumMod val="50000"/>
                  </a:schemeClr>
                </a:solidFill>
                <a:latin typeface="Cascadia Mono" panose="020B0609020000020004" pitchFamily="49" charset="0"/>
              </a:rPr>
              <a:t>'Deploy</a:t>
            </a:r>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steps {</a:t>
            </a:r>
          </a:p>
          <a:p>
            <a:r>
              <a:rPr lang="en-GB" sz="1400" b="1" dirty="0">
                <a:solidFill>
                  <a:srgbClr val="000000"/>
                </a:solidFill>
                <a:latin typeface="Cascadia Mono" panose="020B0609020000020004" pitchFamily="49" charset="0"/>
              </a:rPr>
              <a:t>            script {</a:t>
            </a:r>
          </a:p>
          <a:p>
            <a:r>
              <a:rPr lang="en-GB" sz="1400" b="1" dirty="0">
                <a:solidFill>
                  <a:srgbClr val="000000"/>
                </a:solidFill>
                <a:latin typeface="Cascadia Mono" panose="020B0609020000020004" pitchFamily="49" charset="0"/>
              </a:rPr>
              <a:t>                if (</a:t>
            </a:r>
            <a:r>
              <a:rPr lang="en-GB" sz="1400" b="1" dirty="0" err="1">
                <a:solidFill>
                  <a:srgbClr val="A31515"/>
                </a:solidFill>
                <a:highlight>
                  <a:srgbClr val="FFFFFF"/>
                </a:highlight>
                <a:latin typeface="Cascadia Mono" panose="020B0609020000020004" pitchFamily="49" charset="0"/>
              </a:rPr>
              <a:t>params</a:t>
            </a:r>
            <a:r>
              <a:rPr lang="en-GB" sz="1400" b="1" dirty="0" err="1">
                <a:solidFill>
                  <a:srgbClr val="000000"/>
                </a:solidFill>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ENV</a:t>
            </a:r>
            <a:r>
              <a:rPr lang="en-GB" sz="1400" b="1" dirty="0">
                <a:solidFill>
                  <a:srgbClr val="000000"/>
                </a:solidFill>
                <a:latin typeface="Cascadia Mono" panose="020B0609020000020004" pitchFamily="49" charset="0"/>
              </a:rPr>
              <a:t> == 'prod') {</a:t>
            </a:r>
          </a:p>
          <a:p>
            <a:r>
              <a:rPr lang="en-GB" sz="1400" b="1" dirty="0">
                <a:solidFill>
                  <a:srgbClr val="000000"/>
                </a:solidFill>
                <a:latin typeface="Cascadia Mono" panose="020B0609020000020004" pitchFamily="49" charset="0"/>
              </a:rPr>
              <a:t>                    echo "production deployment"</a:t>
            </a:r>
          </a:p>
          <a:p>
            <a:r>
              <a:rPr lang="en-GB" sz="1400" b="1" dirty="0">
                <a:solidFill>
                  <a:srgbClr val="000000"/>
                </a:solidFill>
                <a:latin typeface="Cascadia Mono" panose="020B0609020000020004" pitchFamily="49" charset="0"/>
              </a:rPr>
              <a:t>                    </a:t>
            </a:r>
            <a:r>
              <a:rPr lang="en-GB" sz="1400" b="1" dirty="0">
                <a:solidFill>
                  <a:srgbClr val="339933"/>
                </a:solidFill>
                <a:latin typeface="Cascadia Mono" panose="020B0609020000020004" pitchFamily="49" charset="0"/>
              </a:rPr>
              <a:t>// prod-specific commands here</a:t>
            </a:r>
          </a:p>
          <a:p>
            <a:r>
              <a:rPr lang="en-GB" sz="1400" b="1" dirty="0">
                <a:solidFill>
                  <a:srgbClr val="000000"/>
                </a:solidFill>
                <a:latin typeface="Cascadia Mono" panose="020B0609020000020004" pitchFamily="49" charset="0"/>
              </a:rPr>
              <a:t>                } else {</a:t>
            </a:r>
          </a:p>
          <a:p>
            <a:r>
              <a:rPr lang="en-GB" sz="1400" b="1" dirty="0">
                <a:solidFill>
                  <a:srgbClr val="000000"/>
                </a:solidFill>
                <a:latin typeface="Cascadia Mono" panose="020B0609020000020004" pitchFamily="49" charset="0"/>
              </a:rPr>
              <a:t>                    echo "Deploying to ${</a:t>
            </a:r>
            <a:r>
              <a:rPr lang="en-GB" sz="1400" b="1" dirty="0" err="1">
                <a:solidFill>
                  <a:srgbClr val="000000"/>
                </a:solidFill>
                <a:latin typeface="Cascadia Mono" panose="020B0609020000020004" pitchFamily="49" charset="0"/>
              </a:rPr>
              <a:t>params.ENV</a:t>
            </a:r>
            <a:r>
              <a:rPr lang="en-GB" sz="1400" b="1" dirty="0">
                <a:solidFill>
                  <a:srgbClr val="000000"/>
                </a:solidFill>
                <a:latin typeface="Cascadia Mono" panose="020B0609020000020004" pitchFamily="49" charset="0"/>
              </a:rPr>
              <a:t>}"</a:t>
            </a:r>
          </a:p>
          <a:p>
            <a:r>
              <a:rPr lang="en-GB" sz="1400" b="1" dirty="0">
                <a:solidFill>
                  <a:srgbClr val="000000"/>
                </a:solidFill>
                <a:latin typeface="Cascadia Mono" panose="020B0609020000020004" pitchFamily="49" charset="0"/>
              </a:rPr>
              <a:t>                    </a:t>
            </a:r>
            <a:r>
              <a:rPr lang="en-GB" sz="1400" b="1" dirty="0">
                <a:solidFill>
                  <a:srgbClr val="339933"/>
                </a:solidFill>
                <a:latin typeface="Cascadia Mono" panose="020B0609020000020004" pitchFamily="49" charset="0"/>
              </a:rPr>
              <a:t>// Add dev/test commands here</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a:t>
            </a:r>
            <a:endParaRPr lang="en-GB" sz="1400" b="1" dirty="0">
              <a:solidFill>
                <a:srgbClr val="000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4055769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C85A4-B4E1-12BC-722C-6E91482A98B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B606526-ACD7-8744-549F-CD28D61A9B3C}"/>
              </a:ext>
            </a:extLst>
          </p:cNvPr>
          <p:cNvSpPr>
            <a:spLocks noGrp="1"/>
          </p:cNvSpPr>
          <p:nvPr>
            <p:ph type="body" sz="quarter" idx="12"/>
          </p:nvPr>
        </p:nvSpPr>
        <p:spPr/>
        <p:txBody>
          <a:bodyPr/>
          <a:lstStyle/>
          <a:p>
            <a:r>
              <a:rPr lang="en-GB" b="1" dirty="0"/>
              <a:t>Manual Approval + Conditional Example</a:t>
            </a:r>
            <a:endParaRPr lang="en-GB" dirty="0"/>
          </a:p>
        </p:txBody>
      </p:sp>
      <p:sp>
        <p:nvSpPr>
          <p:cNvPr id="4" name="Text Placeholder 3">
            <a:extLst>
              <a:ext uri="{FF2B5EF4-FFF2-40B4-BE49-F238E27FC236}">
                <a16:creationId xmlns:a16="http://schemas.microsoft.com/office/drawing/2014/main" id="{2AF82D1F-BE88-F545-DA26-7D218CFFED1C}"/>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b="1" dirty="0">
                <a:latin typeface="Calibri" panose="020F0502020204030204" pitchFamily="34" charset="0"/>
              </a:rPr>
              <a:t>Deploy to prod only after manual confirmation</a:t>
            </a:r>
          </a:p>
          <a:p>
            <a:pPr marL="342900" indent="-342900">
              <a:buSzPts val="1000"/>
              <a:buChar char="•"/>
              <a:tabLst>
                <a:tab pos="457200" algn="l"/>
              </a:tabLst>
            </a:pPr>
            <a:r>
              <a:rPr lang="en-GB" b="1" dirty="0">
                <a:latin typeface="Calibri" panose="020F0502020204030204" pitchFamily="34" charset="0"/>
              </a:rPr>
              <a:t>Skip deploy in dev/test branches automatically</a:t>
            </a:r>
          </a:p>
          <a:p>
            <a:pPr marL="342900" indent="-342900">
              <a:buSzPts val="1000"/>
              <a:buChar char="•"/>
              <a:tabLst>
                <a:tab pos="457200" algn="l"/>
              </a:tabLst>
            </a:pPr>
            <a:r>
              <a:rPr lang="en-GB" b="1" dirty="0">
                <a:latin typeface="Calibri" panose="020F0502020204030204" pitchFamily="34" charset="0"/>
              </a:rPr>
              <a:t>Combine when condition with input step</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FBB0BB2C-9F73-CC8E-98BB-45383352D6BB}"/>
              </a:ext>
            </a:extLst>
          </p:cNvPr>
          <p:cNvSpPr>
            <a:spLocks noGrp="1"/>
          </p:cNvSpPr>
          <p:nvPr>
            <p:ph type="sldNum" sz="quarter" idx="4"/>
          </p:nvPr>
        </p:nvSpPr>
        <p:spPr/>
        <p:txBody>
          <a:bodyPr/>
          <a:lstStyle/>
          <a:p>
            <a:fld id="{EF892D59-8F09-EF4B-AD6D-DA609442F868}" type="slidenum">
              <a:rPr lang="en-GB" smtClean="0"/>
              <a:pPr/>
              <a:t>15</a:t>
            </a:fld>
            <a:endParaRPr lang="en-GB"/>
          </a:p>
        </p:txBody>
      </p:sp>
      <p:sp>
        <p:nvSpPr>
          <p:cNvPr id="6" name="TextBox 5">
            <a:extLst>
              <a:ext uri="{FF2B5EF4-FFF2-40B4-BE49-F238E27FC236}">
                <a16:creationId xmlns:a16="http://schemas.microsoft.com/office/drawing/2014/main" id="{C16FBAD0-37C4-4CC4-E958-FCC4E9010741}"/>
              </a:ext>
            </a:extLst>
          </p:cNvPr>
          <p:cNvSpPr txBox="1"/>
          <p:nvPr/>
        </p:nvSpPr>
        <p:spPr>
          <a:xfrm>
            <a:off x="5091984" y="2536688"/>
            <a:ext cx="6723779" cy="415498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'Deploy'</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when {</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anyOf</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'dev'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'test'</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'prod'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br>
              <a:rPr lang="en-GB" sz="1200" b="1" dirty="0">
                <a:solidFill>
                  <a:srgbClr val="000000"/>
                </a:solidFill>
                <a:highlight>
                  <a:srgbClr val="FFFFFF"/>
                </a:highlight>
                <a:latin typeface="Cascadia Mono" panose="020B0609020000020004" pitchFamily="49" charset="0"/>
              </a:rPr>
            </a:b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script {</a:t>
            </a:r>
          </a:p>
          <a:p>
            <a:r>
              <a:rPr lang="en-GB" sz="1200" b="1" dirty="0">
                <a:solidFill>
                  <a:srgbClr val="000000"/>
                </a:solidFill>
                <a:highlight>
                  <a:srgbClr val="FFFFFF"/>
                </a:highlight>
                <a:latin typeface="Cascadia Mono" panose="020B0609020000020004" pitchFamily="49" charset="0"/>
              </a:rPr>
              <a:t>                    </a:t>
            </a:r>
            <a:r>
              <a:rPr lang="en-GB" sz="1200" b="1" dirty="0">
                <a:solidFill>
                  <a:srgbClr val="0000FF"/>
                </a:solidFill>
                <a:highlight>
                  <a:srgbClr val="FFFFFF"/>
                </a:highlight>
                <a:latin typeface="Cascadia Mono" panose="020B0609020000020004" pitchFamily="49" charset="0"/>
              </a:rPr>
              <a:t>if</a:t>
            </a:r>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env.BRANCH_NAME</a:t>
            </a:r>
            <a:r>
              <a:rPr lang="en-GB" sz="1200" b="1" dirty="0">
                <a:solidFill>
                  <a:srgbClr val="000000"/>
                </a:solidFill>
                <a:highlight>
                  <a:srgbClr val="FFFFFF"/>
                </a:highlight>
                <a:latin typeface="Cascadia Mono" panose="020B0609020000020004" pitchFamily="49" charset="0"/>
              </a:rPr>
              <a:t> == </a:t>
            </a:r>
            <a:r>
              <a:rPr lang="en-GB" sz="1200" b="1" dirty="0">
                <a:solidFill>
                  <a:srgbClr val="A31515"/>
                </a:solidFill>
                <a:highlight>
                  <a:srgbClr val="FFFFFF"/>
                </a:highlight>
                <a:latin typeface="Cascadia Mono" panose="020B0609020000020004" pitchFamily="49" charset="0"/>
              </a:rPr>
              <a:t>'prod'</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"Deploying to PROD"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 </a:t>
            </a:r>
            <a:r>
              <a:rPr lang="en-GB" sz="1200" b="1" dirty="0">
                <a:solidFill>
                  <a:srgbClr val="0000FF"/>
                </a:solidFill>
                <a:highlight>
                  <a:srgbClr val="FFFFFF"/>
                </a:highlight>
                <a:latin typeface="Cascadia Mono" panose="020B0609020000020004" pitchFamily="49" charset="0"/>
              </a:rPr>
              <a:t>else</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"Auto‑deploying to ${</a:t>
            </a:r>
            <a:r>
              <a:rPr lang="en-GB" sz="1200" b="1" dirty="0" err="1">
                <a:solidFill>
                  <a:srgbClr val="A31515"/>
                </a:solidFill>
                <a:highlight>
                  <a:srgbClr val="FFFFFF"/>
                </a:highlight>
                <a:latin typeface="Cascadia Mono" panose="020B0609020000020004" pitchFamily="49" charset="0"/>
              </a:rPr>
              <a:t>env.BRANCH_NAME</a:t>
            </a:r>
            <a:r>
              <a:rPr lang="en-GB" sz="1200" b="1" dirty="0">
                <a:solidFill>
                  <a:srgbClr val="A31515"/>
                </a:solidFill>
                <a:highlight>
                  <a:srgbClr val="FFFFFF"/>
                </a:highlight>
                <a:latin typeface="Cascadia Mono" panose="020B0609020000020004" pitchFamily="49" charset="0"/>
              </a:rPr>
              <a:t>} </a:t>
            </a:r>
            <a:br>
              <a:rPr lang="en-GB" sz="1200" b="1" dirty="0">
                <a:solidFill>
                  <a:srgbClr val="A31515"/>
                </a:solidFill>
                <a:highlight>
                  <a:srgbClr val="FFFFFF"/>
                </a:highlight>
                <a:latin typeface="Cascadia Mono" panose="020B0609020000020004" pitchFamily="49" charset="0"/>
              </a:rPr>
            </a:br>
            <a:r>
              <a:rPr lang="en-GB" sz="1200" b="1" dirty="0">
                <a:solidFill>
                  <a:srgbClr val="A31515"/>
                </a:solidFill>
                <a:highlight>
                  <a:srgbClr val="FFFFFF"/>
                </a:highlight>
                <a:latin typeface="Cascadia Mono" panose="020B0609020000020004" pitchFamily="49" charset="0"/>
              </a:rPr>
              <a:t>					(no approval needed)"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a:t>
            </a:r>
            <a:endParaRPr lang="en-GB" sz="1200" b="1" dirty="0"/>
          </a:p>
        </p:txBody>
      </p:sp>
      <p:sp>
        <p:nvSpPr>
          <p:cNvPr id="7" name="TextBox 6">
            <a:extLst>
              <a:ext uri="{FF2B5EF4-FFF2-40B4-BE49-F238E27FC236}">
                <a16:creationId xmlns:a16="http://schemas.microsoft.com/office/drawing/2014/main" id="{85A3C84A-27D8-5261-E91E-A6D4A6DEEC97}"/>
              </a:ext>
            </a:extLst>
          </p:cNvPr>
          <p:cNvSpPr txBox="1"/>
          <p:nvPr/>
        </p:nvSpPr>
        <p:spPr>
          <a:xfrm>
            <a:off x="171190" y="2552961"/>
            <a:ext cx="4833947" cy="3785652"/>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200" dirty="0">
                <a:solidFill>
                  <a:srgbClr val="000000"/>
                </a:solidFill>
                <a:highlight>
                  <a:srgbClr val="FFFFFF"/>
                </a:highlight>
                <a:latin typeface="Cascadia Mono" panose="020B0609020000020004" pitchFamily="49" charset="0"/>
              </a:rPr>
              <a:t>pipeline {</a:t>
            </a:r>
          </a:p>
          <a:p>
            <a:r>
              <a:rPr lang="en-GB" sz="1200" dirty="0">
                <a:solidFill>
                  <a:srgbClr val="000000"/>
                </a:solidFill>
                <a:highlight>
                  <a:srgbClr val="FFFFFF"/>
                </a:highlight>
                <a:latin typeface="Cascadia Mono" panose="020B0609020000020004" pitchFamily="49" charset="0"/>
              </a:rPr>
              <a:t>    agent any</a:t>
            </a:r>
          </a:p>
          <a:p>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stages {</a:t>
            </a:r>
          </a:p>
          <a:p>
            <a:r>
              <a:rPr lang="en-GB" sz="1200" dirty="0">
                <a:solidFill>
                  <a:srgbClr val="000000"/>
                </a:solidFill>
                <a:highlight>
                  <a:srgbClr val="FFFFFF"/>
                </a:highlight>
                <a:latin typeface="Cascadia Mono" panose="020B0609020000020004" pitchFamily="49" charset="0"/>
              </a:rPr>
              <a:t>        stage(</a:t>
            </a:r>
            <a:r>
              <a:rPr lang="en-GB" sz="1200" dirty="0">
                <a:solidFill>
                  <a:srgbClr val="A31515"/>
                </a:solidFill>
                <a:highlight>
                  <a:srgbClr val="FFFFFF"/>
                </a:highlight>
                <a:latin typeface="Cascadia Mono" panose="020B0609020000020004" pitchFamily="49" charset="0"/>
              </a:rPr>
              <a:t>'Build'</a:t>
            </a:r>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steps {</a:t>
            </a:r>
          </a:p>
          <a:p>
            <a:r>
              <a:rPr lang="en-GB" sz="1200" dirty="0">
                <a:solidFill>
                  <a:srgbClr val="000000"/>
                </a:solidFill>
                <a:highlight>
                  <a:srgbClr val="FFFFFF"/>
                </a:highlight>
                <a:latin typeface="Cascadia Mono" panose="020B0609020000020004" pitchFamily="49" charset="0"/>
              </a:rPr>
              <a:t>                echo </a:t>
            </a:r>
            <a:r>
              <a:rPr lang="en-GB" sz="1200" dirty="0">
                <a:solidFill>
                  <a:srgbClr val="A31515"/>
                </a:solidFill>
                <a:highlight>
                  <a:srgbClr val="FFFFFF"/>
                </a:highlight>
                <a:latin typeface="Cascadia Mono" panose="020B0609020000020004" pitchFamily="49" charset="0"/>
              </a:rPr>
              <a:t>"Building..."</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a:p>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stage(</a:t>
            </a:r>
            <a:r>
              <a:rPr lang="en-GB" sz="1200" dirty="0">
                <a:solidFill>
                  <a:srgbClr val="A31515"/>
                </a:solidFill>
                <a:highlight>
                  <a:srgbClr val="FFFFFF"/>
                </a:highlight>
                <a:latin typeface="Cascadia Mono" panose="020B0609020000020004" pitchFamily="49" charset="0"/>
              </a:rPr>
              <a:t>'Approve Prod Deploy'</a:t>
            </a:r>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when {</a:t>
            </a:r>
          </a:p>
          <a:p>
            <a:r>
              <a:rPr lang="en-GB" sz="1200" dirty="0">
                <a:solidFill>
                  <a:srgbClr val="000000"/>
                </a:solidFill>
                <a:highlight>
                  <a:srgbClr val="FFFFFF"/>
                </a:highlight>
                <a:latin typeface="Cascadia Mono" panose="020B0609020000020004" pitchFamily="49" charset="0"/>
              </a:rPr>
              <a:t>                branch </a:t>
            </a:r>
            <a:r>
              <a:rPr lang="en-GB" sz="1200" dirty="0">
                <a:solidFill>
                  <a:srgbClr val="A31515"/>
                </a:solidFill>
                <a:highlight>
                  <a:srgbClr val="FFFFFF"/>
                </a:highlight>
                <a:latin typeface="Cascadia Mono" panose="020B0609020000020004" pitchFamily="49" charset="0"/>
              </a:rPr>
              <a:t>'prod'</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steps {</a:t>
            </a:r>
          </a:p>
          <a:p>
            <a:r>
              <a:rPr lang="en-GB" sz="1200" dirty="0">
                <a:solidFill>
                  <a:srgbClr val="000000"/>
                </a:solidFill>
                <a:highlight>
                  <a:srgbClr val="FFFFFF"/>
                </a:highlight>
                <a:latin typeface="Cascadia Mono" panose="020B0609020000020004" pitchFamily="49" charset="0"/>
              </a:rPr>
              <a:t>                script {</a:t>
            </a:r>
          </a:p>
          <a:p>
            <a:r>
              <a:rPr lang="en-GB" sz="1200" dirty="0">
                <a:solidFill>
                  <a:srgbClr val="000000"/>
                </a:solidFill>
                <a:highlight>
                  <a:srgbClr val="FFFFFF"/>
                </a:highlight>
                <a:latin typeface="Cascadia Mono" panose="020B0609020000020004" pitchFamily="49" charset="0"/>
              </a:rPr>
              <a:t>                    input message: </a:t>
            </a:r>
            <a:r>
              <a:rPr lang="en-GB" sz="1200" dirty="0">
                <a:solidFill>
                  <a:srgbClr val="A31515"/>
                </a:solidFill>
                <a:highlight>
                  <a:srgbClr val="FFFFFF"/>
                </a:highlight>
                <a:latin typeface="Cascadia Mono" panose="020B0609020000020004" pitchFamily="49" charset="0"/>
              </a:rPr>
              <a:t>"Deploy to PROD?"</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763867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FFFA-A058-77F8-90CB-1F563012F04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C229753-2FE6-3A0C-21C9-D07FE66DAAB7}"/>
              </a:ext>
            </a:extLst>
          </p:cNvPr>
          <p:cNvSpPr>
            <a:spLocks noGrp="1"/>
          </p:cNvSpPr>
          <p:nvPr>
            <p:ph type="body" sz="quarter" idx="12"/>
          </p:nvPr>
        </p:nvSpPr>
        <p:spPr/>
        <p:txBody>
          <a:bodyPr/>
          <a:lstStyle/>
          <a:p>
            <a:r>
              <a:rPr lang="en-GB" b="1" dirty="0"/>
              <a:t>Summary</a:t>
            </a:r>
            <a:endParaRPr lang="en-GB" dirty="0"/>
          </a:p>
        </p:txBody>
      </p:sp>
      <p:sp>
        <p:nvSpPr>
          <p:cNvPr id="4" name="Text Placeholder 3">
            <a:extLst>
              <a:ext uri="{FF2B5EF4-FFF2-40B4-BE49-F238E27FC236}">
                <a16:creationId xmlns:a16="http://schemas.microsoft.com/office/drawing/2014/main" id="{F33F00F6-D41F-BFA4-5ED3-AD2A14C14378}"/>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Pipelines are code, not just UI jobs with structure improves reliability and clarity</a:t>
            </a:r>
          </a:p>
          <a:p>
            <a:pPr marL="342900" indent="-342900">
              <a:lnSpc>
                <a:spcPct val="150000"/>
              </a:lnSpc>
              <a:buSzPts val="1000"/>
              <a:buChar char="•"/>
              <a:tabLst>
                <a:tab pos="457200" algn="l"/>
              </a:tabLst>
            </a:pPr>
            <a:r>
              <a:rPr lang="en-GB" sz="2400" b="1" dirty="0">
                <a:latin typeface="Calibri" panose="020F0502020204030204" pitchFamily="34" charset="0"/>
              </a:rPr>
              <a:t>Can combine multistage, parallel, conditional, parameterised, and approval steps</a:t>
            </a:r>
          </a:p>
          <a:p>
            <a:pPr marL="342900" indent="-342900">
              <a:lnSpc>
                <a:spcPct val="150000"/>
              </a:lnSpc>
              <a:buSzPts val="1000"/>
              <a:buChar char="•"/>
              <a:tabLst>
                <a:tab pos="457200" algn="l"/>
              </a:tabLst>
            </a:pPr>
            <a:r>
              <a:rPr lang="en-GB" sz="2400" b="1" dirty="0">
                <a:latin typeface="Calibri" panose="020F0502020204030204" pitchFamily="34" charset="0"/>
              </a:rPr>
              <a:t>Use parallel testing to speed up feedback</a:t>
            </a:r>
          </a:p>
          <a:p>
            <a:pPr marL="342900" indent="-342900">
              <a:lnSpc>
                <a:spcPct val="150000"/>
              </a:lnSpc>
              <a:buSzPts val="1000"/>
              <a:buChar char="•"/>
              <a:tabLst>
                <a:tab pos="457200" algn="l"/>
              </a:tabLst>
            </a:pPr>
            <a:r>
              <a:rPr lang="en-GB" sz="2400" b="1" dirty="0">
                <a:latin typeface="Calibri" panose="020F0502020204030204" pitchFamily="34" charset="0"/>
              </a:rPr>
              <a:t>Use Conditional deployment for flexibility</a:t>
            </a:r>
          </a:p>
          <a:p>
            <a:pPr marL="342900" indent="-342900">
              <a:lnSpc>
                <a:spcPct val="150000"/>
              </a:lnSpc>
              <a:buSzPts val="1000"/>
              <a:buChar char="•"/>
              <a:tabLst>
                <a:tab pos="457200" algn="l"/>
              </a:tabLst>
            </a:pPr>
            <a:r>
              <a:rPr lang="en-GB" sz="2400" b="1" dirty="0">
                <a:latin typeface="Calibri" panose="020F0502020204030204" pitchFamily="34" charset="0"/>
              </a:rPr>
              <a:t>Use Manual approval for safety and Parameter-driven builds for reusability</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60BDE0DE-FAE0-B19F-3EC1-A887CFFD0E6D}"/>
              </a:ext>
            </a:extLst>
          </p:cNvPr>
          <p:cNvSpPr>
            <a:spLocks noGrp="1"/>
          </p:cNvSpPr>
          <p:nvPr>
            <p:ph type="sldNum" sz="quarter" idx="4"/>
          </p:nvPr>
        </p:nvSpPr>
        <p:spPr/>
        <p:txBody>
          <a:bodyPr/>
          <a:lstStyle/>
          <a:p>
            <a:fld id="{EF892D59-8F09-EF4B-AD6D-DA609442F868}" type="slidenum">
              <a:rPr lang="en-GB" smtClean="0"/>
              <a:pPr/>
              <a:t>16</a:t>
            </a:fld>
            <a:endParaRPr lang="en-GB"/>
          </a:p>
        </p:txBody>
      </p:sp>
    </p:spTree>
    <p:extLst>
      <p:ext uri="{BB962C8B-B14F-4D97-AF65-F5344CB8AC3E}">
        <p14:creationId xmlns:p14="http://schemas.microsoft.com/office/powerpoint/2010/main" val="9973939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Primary_Colors">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6" ma:contentTypeDescription="Create a new document." ma:contentTypeScope="" ma:versionID="1df647ff451cce96fec958af0153ffba">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5089fbabc7396ddc8a0ca74cb50b0683"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OCR"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d02b767-6ee7-4f18-ac1f-362d437aa0cf}"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4dd4f8b-4e55-4b0f-90ae-c416a13e2e63">
      <Terms xmlns="http://schemas.microsoft.com/office/infopath/2007/PartnerControls"/>
    </lcf76f155ced4ddcb4097134ff3c332f>
    <TaxCatchAll xmlns="51b58b7f-359e-418a-8fc0-c5d77d026bdc" xsi:nil="true"/>
  </documentManagement>
</p:properties>
</file>

<file path=customXml/itemProps1.xml><?xml version="1.0" encoding="utf-8"?>
<ds:datastoreItem xmlns:ds="http://schemas.openxmlformats.org/officeDocument/2006/customXml" ds:itemID="{BB466F22-B209-49D5-9C6F-CD2632AF8CF6}">
  <ds:schemaRefs>
    <ds:schemaRef ds:uri="http://schemas.microsoft.com/sharepoint/v3/contenttype/forms"/>
  </ds:schemaRefs>
</ds:datastoreItem>
</file>

<file path=customXml/itemProps2.xml><?xml version="1.0" encoding="utf-8"?>
<ds:datastoreItem xmlns:ds="http://schemas.openxmlformats.org/officeDocument/2006/customXml" ds:itemID="{06D42DE0-B197-4E79-9969-FB750B2AC8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4FD4C0-AF61-4457-ADCF-4CFE3F92DA4C}">
  <ds:schemaRefs>
    <ds:schemaRef ds:uri="http://purl.org/dc/elements/1.1/"/>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http://schemas.microsoft.com/office/2006/documentManagement/types"/>
    <ds:schemaRef ds:uri="448C177D-8930-4CE7-B892-EC306B91C362"/>
    <ds:schemaRef ds:uri="http://www.w3.org/XML/1998/namespace"/>
    <ds:schemaRef ds:uri="04dd4f8b-4e55-4b0f-90ae-c416a13e2e63"/>
    <ds:schemaRef ds:uri="51b58b7f-359e-418a-8fc0-c5d77d026bdc"/>
  </ds:schemaRefs>
</ds:datastoreItem>
</file>

<file path=docProps/app.xml><?xml version="1.0" encoding="utf-8"?>
<Properties xmlns="http://schemas.openxmlformats.org/officeDocument/2006/extended-properties" xmlns:vt="http://schemas.openxmlformats.org/officeDocument/2006/docPropsVTypes">
  <TotalTime>0</TotalTime>
  <Words>2307</Words>
  <Application>Microsoft Office PowerPoint</Application>
  <PresentationFormat>Widescreen</PresentationFormat>
  <Paragraphs>458</Paragraphs>
  <Slides>16</Slides>
  <Notes>15</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16</vt:i4>
      </vt:variant>
    </vt:vector>
  </HeadingPairs>
  <TitlesOfParts>
    <vt:vector size="27" baseType="lpstr">
      <vt:lpstr>Arial</vt:lpstr>
      <vt:lpstr>Calibri</vt:lpstr>
      <vt:lpstr>Cascadia Mono</vt:lpstr>
      <vt:lpstr>Montserrat</vt:lpstr>
      <vt:lpstr>Montserrat Black</vt:lpstr>
      <vt:lpstr>Segoe UI</vt:lpstr>
      <vt:lpstr>Master_Primary_Colors</vt:lpstr>
      <vt:lpstr>Master_Red_and_Purple</vt:lpstr>
      <vt:lpstr>Master_Yellow_and_Orange</vt:lpstr>
      <vt:lpstr>Master_Blue</vt:lpstr>
      <vt:lpstr>Master_Neutral</vt:lpstr>
      <vt:lpstr>Jenkins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jobs</dc:title>
  <dc:creator>Waller, Michelle</dc:creator>
  <cp:lastModifiedBy>mike baradaran</cp:lastModifiedBy>
  <cp:revision>109</cp:revision>
  <dcterms:created xsi:type="dcterms:W3CDTF">2020-09-24T08:38:39Z</dcterms:created>
  <dcterms:modified xsi:type="dcterms:W3CDTF">2026-01-25T16:41:19Z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BookType">
    <vt:lpwstr>4</vt:lpwstr>
  </property>
</Properties>
</file>