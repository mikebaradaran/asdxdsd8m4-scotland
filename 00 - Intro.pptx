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4" r:id="rId1"/>
    <p:sldMasterId id="2147483702" r:id="rId2"/>
    <p:sldMasterId id="2147483678" r:id="rId3"/>
    <p:sldMasterId id="2147483757" r:id="rId4"/>
  </p:sldMasterIdLst>
  <p:notesMasterIdLst>
    <p:notesMasterId r:id="rId12"/>
  </p:notesMasterIdLst>
  <p:handoutMasterIdLst>
    <p:handoutMasterId r:id="rId13"/>
  </p:handoutMasterIdLst>
  <p:sldIdLst>
    <p:sldId id="321" r:id="rId5"/>
    <p:sldId id="319" r:id="rId6"/>
    <p:sldId id="263" r:id="rId7"/>
    <p:sldId id="324" r:id="rId8"/>
    <p:sldId id="275" r:id="rId9"/>
    <p:sldId id="318" r:id="rId10"/>
    <p:sldId id="316" r:id="rId11"/>
  </p:sldIdLst>
  <p:sldSz cx="12192000" cy="6858000"/>
  <p:notesSz cx="6854825" cy="9985375"/>
  <p:embeddedFontLst>
    <p:embeddedFont>
      <p:font typeface="Montserrat" panose="00000500000000000000" pitchFamily="2" charset="0"/>
      <p:regular r:id="rId14"/>
      <p:bold r:id="rId15"/>
      <p:italic r:id="rId16"/>
      <p:boldItalic r:id="rId17"/>
    </p:embeddedFont>
    <p:embeddedFont>
      <p:font typeface="Montserrat Black" panose="00000A00000000000000" pitchFamily="2" charset="0"/>
      <p:bold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orient="horz" pos="2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D3FF"/>
    <a:srgbClr val="F3622C"/>
    <a:srgbClr val="7F007D"/>
    <a:srgbClr val="004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77367" autoAdjust="0"/>
  </p:normalViewPr>
  <p:slideViewPr>
    <p:cSldViewPr snapToGrid="0" showGuides="1">
      <p:cViewPr varScale="1">
        <p:scale>
          <a:sx n="60" d="100"/>
          <a:sy n="60" d="100"/>
        </p:scale>
        <p:origin x="1550" y="48"/>
      </p:cViewPr>
      <p:guideLst>
        <p:guide orient="horz" pos="4088"/>
        <p:guide pos="3840"/>
        <p:guide pos="7446"/>
        <p:guide orient="horz" pos="210"/>
      </p:guideLst>
    </p:cSldViewPr>
  </p:slideViewPr>
  <p:outlineViewPr>
    <p:cViewPr>
      <p:scale>
        <a:sx n="33" d="100"/>
        <a:sy n="33" d="100"/>
      </p:scale>
      <p:origin x="0" y="-729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20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424" cy="5010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2815" y="0"/>
            <a:ext cx="2970424" cy="5010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95379-1203-4B1D-94FC-D4D0F52F1E5F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84374"/>
            <a:ext cx="2970424" cy="5010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2815" y="9484374"/>
            <a:ext cx="2970424" cy="5010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6EEC5-59A6-454E-93DD-6473A176BC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285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0424" cy="5010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2815" y="0"/>
            <a:ext cx="2970424" cy="50100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A0D16-891E-4CAD-9077-149658A39E59}" type="datetimeFigureOut">
              <a:rPr lang="en-GB" smtClean="0"/>
              <a:t>17/06/2026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1800" y="1247775"/>
            <a:ext cx="5991225" cy="33702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483" y="4805462"/>
            <a:ext cx="5483860" cy="39317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84374"/>
            <a:ext cx="2970424" cy="5010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2815" y="9484374"/>
            <a:ext cx="2970424" cy="5010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A9C37-A2FB-4AC2-AA91-AF6E90133E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6539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Replace with trainer photo and details of name, job title and email</a:t>
            </a:r>
          </a:p>
          <a:p>
            <a:endParaRPr lang="en-GB" dirty="0"/>
          </a:p>
          <a:p>
            <a:r>
              <a:rPr lang="en-GB" dirty="0"/>
              <a:t>Intro slides should be covered in less than 30 </a:t>
            </a:r>
            <a:r>
              <a:rPr lang="en-GB" dirty="0" err="1"/>
              <a:t>mins</a:t>
            </a:r>
            <a:r>
              <a:rPr lang="en-GB" dirty="0"/>
              <a:t>, ideally 20 </a:t>
            </a:r>
            <a:r>
              <a:rPr lang="en-GB" dirty="0" err="1"/>
              <a:t>mins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Add dates </a:t>
            </a:r>
          </a:p>
          <a:p>
            <a:r>
              <a:rPr lang="en-GB" dirty="0"/>
              <a:t>Has start and end times but discuss break options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4330C0F-B562-4462-8544-12C691517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4264101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/>
              <a:t>Enter topics / modules from course outlines / objectives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C85CB0E6-A420-473D-8CDB-94FDEBD13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57350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</a:t>
            </a:r>
          </a:p>
          <a:p>
            <a:endParaRPr lang="en-GB" dirty="0"/>
          </a:p>
          <a:p>
            <a:r>
              <a:rPr lang="en-GB" dirty="0"/>
              <a:t>Separate info to be covered later on accessing course materials: Mimeo / </a:t>
            </a:r>
            <a:r>
              <a:rPr lang="en-GB" dirty="0" err="1"/>
              <a:t>Skillpipe</a:t>
            </a:r>
            <a:r>
              <a:rPr lang="en-GB" dirty="0"/>
              <a:t>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50DFC0A5-C107-4F8C-B54E-705D31A7C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170862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</a:t>
            </a:r>
          </a:p>
          <a:p>
            <a:endParaRPr lang="en-GB" dirty="0"/>
          </a:p>
          <a:p>
            <a:r>
              <a:rPr lang="en-GB" dirty="0"/>
              <a:t>Separate info to be covered later on accessing course materials: Mimeo / </a:t>
            </a:r>
            <a:r>
              <a:rPr lang="en-GB" dirty="0" err="1"/>
              <a:t>Skillpipe</a:t>
            </a:r>
            <a:r>
              <a:rPr lang="en-GB" dirty="0"/>
              <a:t>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EE2951F-3807-4469-8D8F-A6E502031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21077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Introductions from learners should be short and punchy. </a:t>
            </a:r>
          </a:p>
          <a:p>
            <a:r>
              <a:rPr lang="en-GB" dirty="0"/>
              <a:t>If it’s a small group, verbal may work best. </a:t>
            </a:r>
          </a:p>
          <a:p>
            <a:r>
              <a:rPr lang="en-GB" dirty="0"/>
              <a:t>For larger groups, use any of the following slides to get them sharing info and using the WebEx online tools.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205937-A367-4A57-8371-13E02AD1B4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752625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OPTIONAL </a:t>
            </a:r>
          </a:p>
          <a:p>
            <a:endParaRPr lang="en-GB" dirty="0"/>
          </a:p>
          <a:p>
            <a:r>
              <a:rPr lang="en-GB" dirty="0"/>
              <a:t>Suitable for small groups. Verbal or chat window option for responses. 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52D32E29-AE71-43D7-8012-CBEEC040B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708573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A9C37-A2FB-4AC2-AA91-AF6E90133E5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6807B862-E73F-4A69-9555-DEBD86FAA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6BD06F1-4348-4EA1-9C3B-D8CEB1A6B3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884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er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0108" y="0"/>
            <a:ext cx="8222211" cy="68580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-1" y="0"/>
            <a:ext cx="4140000" cy="6858000"/>
          </a:xfrm>
          <a:prstGeom prst="rect">
            <a:avLst/>
          </a:prstGeom>
          <a:solidFill>
            <a:srgbClr val="20D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63525" y="365125"/>
            <a:ext cx="3671887" cy="3736857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18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bar Arrow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485899"/>
            <a:ext cx="4401082" cy="187486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none" baseline="0">
                <a:solidFill>
                  <a:schemeClr val="bg1"/>
                </a:solidFill>
                <a:latin typeface="Montserrat" panose="000005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93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4 Section Divi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2294314"/>
            <a:ext cx="9545652" cy="40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257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0" y="3249780"/>
            <a:ext cx="5967455" cy="2859259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5759"/>
            <a:ext cx="5718225" cy="61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977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 userDrawn="1">
          <p15:clr>
            <a:srgbClr val="FBAE40"/>
          </p15:clr>
        </p15:guide>
        <p15:guide id="2" pos="363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0" y="224377"/>
            <a:ext cx="5797612" cy="2396903"/>
            <a:chOff x="1320045" y="4580698"/>
            <a:chExt cx="3312434" cy="1370734"/>
          </a:xfrm>
          <a:solidFill>
            <a:srgbClr val="28CFF9"/>
          </a:solidFill>
        </p:grpSpPr>
        <p:sp>
          <p:nvSpPr>
            <p:cNvPr id="12" name="Rectangle 11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2697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05" userDrawn="1">
          <p15:clr>
            <a:srgbClr val="FBAE40"/>
          </p15:clr>
        </p15:guide>
        <p15:guide id="2" pos="36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F3622C"/>
          </a:solidFill>
        </p:grpSpPr>
        <p:sp>
          <p:nvSpPr>
            <p:cNvPr id="9" name="Rectangle 8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7200"/>
            <a:ext cx="5718225" cy="61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2285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-6058" y="3516217"/>
            <a:ext cx="5797612" cy="2396903"/>
            <a:chOff x="1320045" y="4580698"/>
            <a:chExt cx="3312434" cy="1370734"/>
          </a:xfrm>
          <a:solidFill>
            <a:srgbClr val="7E007C"/>
          </a:solidFill>
        </p:grpSpPr>
        <p:sp>
          <p:nvSpPr>
            <p:cNvPr id="16" name="Rectangle 15"/>
            <p:cNvSpPr/>
            <p:nvPr userDrawn="1"/>
          </p:nvSpPr>
          <p:spPr>
            <a:xfrm>
              <a:off x="1320045" y="5031740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320046" y="5373431"/>
              <a:ext cx="1234104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367200"/>
            <a:ext cx="5718225" cy="61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  <a:endParaRPr lang="en-GB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360218" y="1233489"/>
            <a:ext cx="5342312" cy="29263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782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Sidebar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 b="0"/>
            </a:lvl1pPr>
            <a:lvl2pPr marL="180000" indent="-180000">
              <a:buFont typeface="Arial" panose="020B0604020202020204" pitchFamily="34" charset="0"/>
              <a:buChar char="•"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56680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Sidebar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0" y="5030515"/>
            <a:ext cx="2361189" cy="132089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 userDrawn="1"/>
        </p:nvSpPr>
        <p:spPr>
          <a:xfrm>
            <a:off x="0" y="5379138"/>
            <a:ext cx="2746241" cy="133200"/>
          </a:xfrm>
          <a:prstGeom prst="rect">
            <a:avLst/>
          </a:prstGeom>
          <a:solidFill>
            <a:srgbClr val="F8D2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1534165" y="4568506"/>
            <a:ext cx="2424152" cy="1401684"/>
            <a:chOff x="7799133" y="1870745"/>
            <a:chExt cx="1010349" cy="584292"/>
          </a:xfrm>
          <a:solidFill>
            <a:srgbClr val="F8D237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 b="0"/>
            </a:lvl1pPr>
            <a:lvl2pPr marL="180000" indent="-180000">
              <a:buFont typeface="Arial" panose="020B0604020202020204" pitchFamily="34" charset="0"/>
              <a:buChar char="•"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86734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Sidebar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 b="0"/>
            </a:lvl1pPr>
            <a:lvl2pPr marL="180000" indent="-180000">
              <a:buFont typeface="Arial" panose="020B0604020202020204" pitchFamily="34" charset="0"/>
              <a:buChar char="•"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84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Sidebar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365125"/>
            <a:ext cx="6733684" cy="60522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400" b="0"/>
            </a:lvl1pPr>
            <a:lvl2pPr marL="180000" indent="-180000">
              <a:buFont typeface="Arial" panose="020B0604020202020204" pitchFamily="34" charset="0"/>
              <a:buChar char="•"/>
              <a:defRPr sz="2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3468298" cy="37368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1C13B23-0164-1C4E-9E7A-3F1ECA7824F7}"/>
              </a:ext>
            </a:extLst>
          </p:cNvPr>
          <p:cNvGrpSpPr/>
          <p:nvPr userDrawn="1"/>
        </p:nvGrpSpPr>
        <p:grpSpPr>
          <a:xfrm>
            <a:off x="2327195" y="4606108"/>
            <a:ext cx="2293146" cy="1326143"/>
            <a:chOff x="7799133" y="1870745"/>
            <a:chExt cx="1010349" cy="584292"/>
          </a:xfrm>
          <a:solidFill>
            <a:srgbClr val="FF004C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/>
          </p:nvSpPr>
          <p:spPr>
            <a:xfrm>
              <a:off x="7799260" y="1870745"/>
              <a:ext cx="749300" cy="247650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300" h="247650">
                  <a:moveTo>
                    <a:pt x="749871" y="248186"/>
                  </a:moveTo>
                  <a:lnTo>
                    <a:pt x="0" y="248186"/>
                  </a:lnTo>
                  <a:lnTo>
                    <a:pt x="0" y="192497"/>
                  </a:lnTo>
                  <a:lnTo>
                    <a:pt x="603885" y="192497"/>
                  </a:lnTo>
                  <a:cubicBezTo>
                    <a:pt x="546036" y="134140"/>
                    <a:pt x="492760" y="74768"/>
                    <a:pt x="457200" y="219"/>
                  </a:cubicBezTo>
                  <a:cubicBezTo>
                    <a:pt x="477583" y="219"/>
                    <a:pt x="496443" y="854"/>
                    <a:pt x="515239" y="219"/>
                  </a:cubicBezTo>
                  <a:cubicBezTo>
                    <a:pt x="524031" y="-1141"/>
                    <a:pt x="532543" y="3956"/>
                    <a:pt x="535495" y="12347"/>
                  </a:cubicBezTo>
                  <a:cubicBezTo>
                    <a:pt x="553057" y="45816"/>
                    <a:pt x="574730" y="76961"/>
                    <a:pt x="600011" y="105057"/>
                  </a:cubicBezTo>
                  <a:cubicBezTo>
                    <a:pt x="643639" y="155126"/>
                    <a:pt x="691855" y="201004"/>
                    <a:pt x="744030" y="242090"/>
                  </a:cubicBezTo>
                  <a:cubicBezTo>
                    <a:pt x="745808" y="243551"/>
                    <a:pt x="747585" y="245011"/>
                    <a:pt x="749236" y="246535"/>
                  </a:cubicBezTo>
                  <a:cubicBezTo>
                    <a:pt x="749554" y="246599"/>
                    <a:pt x="749554" y="247170"/>
                    <a:pt x="749871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B9C1B07-7BAD-DD4F-97E1-2FD89B2D1C40}"/>
                </a:ext>
              </a:extLst>
            </p:cNvPr>
            <p:cNvSpPr/>
            <p:nvPr/>
          </p:nvSpPr>
          <p:spPr>
            <a:xfrm>
              <a:off x="7799133" y="2208657"/>
              <a:ext cx="749300" cy="241300"/>
            </a:xfrm>
            <a:custGeom>
              <a:avLst/>
              <a:gdLst>
                <a:gd name="connsiteX0" fmla="*/ 601091 w 749300"/>
                <a:gd name="connsiteY0" fmla="*/ 55689 h 241300"/>
                <a:gd name="connsiteX1" fmla="*/ 0 w 749300"/>
                <a:gd name="connsiteY1" fmla="*/ 55689 h 241300"/>
                <a:gd name="connsiteX2" fmla="*/ 0 w 749300"/>
                <a:gd name="connsiteY2" fmla="*/ 0 h 241300"/>
                <a:gd name="connsiteX3" fmla="*/ 751269 w 749300"/>
                <a:gd name="connsiteY3" fmla="*/ 0 h 241300"/>
                <a:gd name="connsiteX4" fmla="*/ 720598 w 749300"/>
                <a:gd name="connsiteY4" fmla="*/ 25845 h 241300"/>
                <a:gd name="connsiteX5" fmla="*/ 586550 w 749300"/>
                <a:gd name="connsiteY5" fmla="*/ 159893 h 241300"/>
                <a:gd name="connsiteX6" fmla="*/ 531813 w 749300"/>
                <a:gd name="connsiteY6" fmla="*/ 241871 h 241300"/>
                <a:gd name="connsiteX7" fmla="*/ 524701 w 749300"/>
                <a:gd name="connsiteY7" fmla="*/ 246824 h 241300"/>
                <a:gd name="connsiteX8" fmla="*/ 461835 w 749300"/>
                <a:gd name="connsiteY8" fmla="*/ 246824 h 241300"/>
                <a:gd name="connsiteX9" fmla="*/ 458216 w 749300"/>
                <a:gd name="connsiteY9" fmla="*/ 246317 h 241300"/>
                <a:gd name="connsiteX10" fmla="*/ 522478 w 749300"/>
                <a:gd name="connsiteY10" fmla="*/ 144717 h 241300"/>
                <a:gd name="connsiteX11" fmla="*/ 601091 w 749300"/>
                <a:gd name="connsiteY11" fmla="*/ 55689 h 241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9300" h="241300">
                  <a:moveTo>
                    <a:pt x="601091" y="55689"/>
                  </a:moveTo>
                  <a:lnTo>
                    <a:pt x="0" y="55689"/>
                  </a:lnTo>
                  <a:lnTo>
                    <a:pt x="0" y="0"/>
                  </a:lnTo>
                  <a:lnTo>
                    <a:pt x="751269" y="0"/>
                  </a:lnTo>
                  <a:cubicBezTo>
                    <a:pt x="740220" y="9335"/>
                    <a:pt x="730377" y="17526"/>
                    <a:pt x="720598" y="25845"/>
                  </a:cubicBezTo>
                  <a:cubicBezTo>
                    <a:pt x="672008" y="66441"/>
                    <a:pt x="627146" y="111303"/>
                    <a:pt x="586550" y="159893"/>
                  </a:cubicBezTo>
                  <a:cubicBezTo>
                    <a:pt x="565442" y="185196"/>
                    <a:pt x="547093" y="212678"/>
                    <a:pt x="531813" y="241871"/>
                  </a:cubicBezTo>
                  <a:cubicBezTo>
                    <a:pt x="530328" y="244527"/>
                    <a:pt x="527706" y="246353"/>
                    <a:pt x="524701" y="246824"/>
                  </a:cubicBezTo>
                  <a:cubicBezTo>
                    <a:pt x="503746" y="247205"/>
                    <a:pt x="482791" y="246824"/>
                    <a:pt x="461835" y="246824"/>
                  </a:cubicBezTo>
                  <a:cubicBezTo>
                    <a:pt x="460621" y="246721"/>
                    <a:pt x="459412" y="246551"/>
                    <a:pt x="458216" y="246317"/>
                  </a:cubicBezTo>
                  <a:cubicBezTo>
                    <a:pt x="475005" y="209733"/>
                    <a:pt x="496619" y="175563"/>
                    <a:pt x="522478" y="144717"/>
                  </a:cubicBezTo>
                  <a:cubicBezTo>
                    <a:pt x="547751" y="114554"/>
                    <a:pt x="574802" y="85471"/>
                    <a:pt x="601091" y="55689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428482" y="1870837"/>
              <a:ext cx="381000" cy="584200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Rectangle 2"/>
          <p:cNvSpPr/>
          <p:nvPr userDrawn="1"/>
        </p:nvSpPr>
        <p:spPr>
          <a:xfrm>
            <a:off x="-11069" y="5042941"/>
            <a:ext cx="2506981" cy="126517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 userDrawn="1"/>
        </p:nvSpPr>
        <p:spPr>
          <a:xfrm>
            <a:off x="0" y="5374222"/>
            <a:ext cx="2506981" cy="126000"/>
          </a:xfrm>
          <a:prstGeom prst="rect">
            <a:avLst/>
          </a:prstGeom>
          <a:solidFill>
            <a:srgbClr val="FF00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1609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063" y="681645"/>
            <a:ext cx="6143484" cy="1047402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13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 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73063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73063" y="681645"/>
            <a:ext cx="6143484" cy="10474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86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 (Oran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854197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73063" y="681645"/>
            <a:ext cx="6143484" cy="10474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56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Image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73063" y="681645"/>
            <a:ext cx="6143484" cy="104740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7847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10396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8027" y="536783"/>
            <a:ext cx="2127213" cy="1197621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237213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800" b="1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24705" y="5237213"/>
            <a:ext cx="3978275" cy="12557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Trainer name Trainer name </a:t>
            </a:r>
          </a:p>
          <a:p>
            <a:r>
              <a:rPr lang="en-GB" dirty="0"/>
              <a:t>Job title</a:t>
            </a:r>
          </a:p>
          <a:p>
            <a:r>
              <a:rPr lang="en-GB" dirty="0"/>
              <a:t>Relevant certifications</a:t>
            </a:r>
          </a:p>
          <a:p>
            <a:r>
              <a:rPr lang="en-GB" dirty="0"/>
              <a:t>Email address, etc…</a:t>
            </a:r>
          </a:p>
          <a:p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856395"/>
            <a:ext cx="7552267" cy="139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674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1250" y="-1"/>
            <a:ext cx="5300749" cy="6887911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pic>
        <p:nvPicPr>
          <p:cNvPr id="18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3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85164" y="490450"/>
            <a:ext cx="6206836" cy="6388913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2400" b="1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3516594"/>
            <a:ext cx="6358189" cy="2396903"/>
            <a:chOff x="999763" y="4580698"/>
            <a:chExt cx="3632716" cy="1370734"/>
          </a:xfrm>
          <a:solidFill>
            <a:srgbClr val="004050"/>
          </a:solidFill>
        </p:grpSpPr>
        <p:sp>
          <p:nvSpPr>
            <p:cNvPr id="10" name="Rectangle 9"/>
            <p:cNvSpPr/>
            <p:nvPr userDrawn="1"/>
          </p:nvSpPr>
          <p:spPr>
            <a:xfrm>
              <a:off x="999763" y="5031740"/>
              <a:ext cx="1554386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999763" y="5373431"/>
              <a:ext cx="1554387" cy="133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C13B23-0164-1C4E-9E7A-3F1ECA7824F7}"/>
                </a:ext>
              </a:extLst>
            </p:cNvPr>
            <p:cNvGrpSpPr/>
            <p:nvPr userDrawn="1"/>
          </p:nvGrpSpPr>
          <p:grpSpPr>
            <a:xfrm>
              <a:off x="2227580" y="4580698"/>
              <a:ext cx="2404899" cy="1370734"/>
              <a:chOff x="7799133" y="1870745"/>
              <a:chExt cx="1010349" cy="584292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F450B4C-241D-A544-BBEF-175E01D6A139}"/>
                  </a:ext>
                </a:extLst>
              </p:cNvPr>
              <p:cNvSpPr/>
              <p:nvPr/>
            </p:nvSpPr>
            <p:spPr>
              <a:xfrm>
                <a:off x="7799260" y="1870745"/>
                <a:ext cx="749300" cy="247650"/>
              </a:xfrm>
              <a:custGeom>
                <a:avLst/>
                <a:gdLst>
                  <a:gd name="connsiteX0" fmla="*/ 749871 w 749300"/>
                  <a:gd name="connsiteY0" fmla="*/ 248186 h 247650"/>
                  <a:gd name="connsiteX1" fmla="*/ 0 w 749300"/>
                  <a:gd name="connsiteY1" fmla="*/ 248186 h 247650"/>
                  <a:gd name="connsiteX2" fmla="*/ 0 w 749300"/>
                  <a:gd name="connsiteY2" fmla="*/ 192497 h 247650"/>
                  <a:gd name="connsiteX3" fmla="*/ 603885 w 749300"/>
                  <a:gd name="connsiteY3" fmla="*/ 192497 h 247650"/>
                  <a:gd name="connsiteX4" fmla="*/ 457200 w 749300"/>
                  <a:gd name="connsiteY4" fmla="*/ 219 h 247650"/>
                  <a:gd name="connsiteX5" fmla="*/ 515239 w 749300"/>
                  <a:gd name="connsiteY5" fmla="*/ 219 h 247650"/>
                  <a:gd name="connsiteX6" fmla="*/ 535495 w 749300"/>
                  <a:gd name="connsiteY6" fmla="*/ 12347 h 247650"/>
                  <a:gd name="connsiteX7" fmla="*/ 600011 w 749300"/>
                  <a:gd name="connsiteY7" fmla="*/ 105057 h 247650"/>
                  <a:gd name="connsiteX8" fmla="*/ 744030 w 749300"/>
                  <a:gd name="connsiteY8" fmla="*/ 242090 h 247650"/>
                  <a:gd name="connsiteX9" fmla="*/ 749236 w 749300"/>
                  <a:gd name="connsiteY9" fmla="*/ 246535 h 247650"/>
                  <a:gd name="connsiteX10" fmla="*/ 749871 w 749300"/>
                  <a:gd name="connsiteY10" fmla="*/ 248186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9300" h="247650">
                    <a:moveTo>
                      <a:pt x="749871" y="248186"/>
                    </a:moveTo>
                    <a:lnTo>
                      <a:pt x="0" y="248186"/>
                    </a:lnTo>
                    <a:lnTo>
                      <a:pt x="0" y="192497"/>
                    </a:lnTo>
                    <a:lnTo>
                      <a:pt x="603885" y="192497"/>
                    </a:lnTo>
                    <a:cubicBezTo>
                      <a:pt x="546036" y="134140"/>
                      <a:pt x="492760" y="74768"/>
                      <a:pt x="457200" y="219"/>
                    </a:cubicBezTo>
                    <a:cubicBezTo>
                      <a:pt x="477583" y="219"/>
                      <a:pt x="496443" y="854"/>
                      <a:pt x="515239" y="219"/>
                    </a:cubicBezTo>
                    <a:cubicBezTo>
                      <a:pt x="524031" y="-1141"/>
                      <a:pt x="532543" y="3956"/>
                      <a:pt x="535495" y="12347"/>
                    </a:cubicBezTo>
                    <a:cubicBezTo>
                      <a:pt x="553057" y="45816"/>
                      <a:pt x="574730" y="76961"/>
                      <a:pt x="600011" y="105057"/>
                    </a:cubicBezTo>
                    <a:cubicBezTo>
                      <a:pt x="643639" y="155126"/>
                      <a:pt x="691855" y="201004"/>
                      <a:pt x="744030" y="242090"/>
                    </a:cubicBezTo>
                    <a:cubicBezTo>
                      <a:pt x="745808" y="243551"/>
                      <a:pt x="747585" y="245011"/>
                      <a:pt x="749236" y="246535"/>
                    </a:cubicBezTo>
                    <a:cubicBezTo>
                      <a:pt x="749554" y="246599"/>
                      <a:pt x="749554" y="247170"/>
                      <a:pt x="749871" y="248186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B9C1B07-7BAD-DD4F-97E1-2FD89B2D1C40}"/>
                  </a:ext>
                </a:extLst>
              </p:cNvPr>
              <p:cNvSpPr/>
              <p:nvPr/>
            </p:nvSpPr>
            <p:spPr>
              <a:xfrm>
                <a:off x="7799133" y="2208657"/>
                <a:ext cx="749300" cy="241300"/>
              </a:xfrm>
              <a:custGeom>
                <a:avLst/>
                <a:gdLst>
                  <a:gd name="connsiteX0" fmla="*/ 601091 w 749300"/>
                  <a:gd name="connsiteY0" fmla="*/ 55689 h 241300"/>
                  <a:gd name="connsiteX1" fmla="*/ 0 w 749300"/>
                  <a:gd name="connsiteY1" fmla="*/ 55689 h 241300"/>
                  <a:gd name="connsiteX2" fmla="*/ 0 w 749300"/>
                  <a:gd name="connsiteY2" fmla="*/ 0 h 241300"/>
                  <a:gd name="connsiteX3" fmla="*/ 751269 w 749300"/>
                  <a:gd name="connsiteY3" fmla="*/ 0 h 241300"/>
                  <a:gd name="connsiteX4" fmla="*/ 720598 w 749300"/>
                  <a:gd name="connsiteY4" fmla="*/ 25845 h 241300"/>
                  <a:gd name="connsiteX5" fmla="*/ 586550 w 749300"/>
                  <a:gd name="connsiteY5" fmla="*/ 159893 h 241300"/>
                  <a:gd name="connsiteX6" fmla="*/ 531813 w 749300"/>
                  <a:gd name="connsiteY6" fmla="*/ 241871 h 241300"/>
                  <a:gd name="connsiteX7" fmla="*/ 524701 w 749300"/>
                  <a:gd name="connsiteY7" fmla="*/ 246824 h 241300"/>
                  <a:gd name="connsiteX8" fmla="*/ 461835 w 749300"/>
                  <a:gd name="connsiteY8" fmla="*/ 246824 h 241300"/>
                  <a:gd name="connsiteX9" fmla="*/ 458216 w 749300"/>
                  <a:gd name="connsiteY9" fmla="*/ 246317 h 241300"/>
                  <a:gd name="connsiteX10" fmla="*/ 522478 w 749300"/>
                  <a:gd name="connsiteY10" fmla="*/ 144717 h 241300"/>
                  <a:gd name="connsiteX11" fmla="*/ 601091 w 749300"/>
                  <a:gd name="connsiteY11" fmla="*/ 55689 h 241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49300" h="241300">
                    <a:moveTo>
                      <a:pt x="601091" y="55689"/>
                    </a:moveTo>
                    <a:lnTo>
                      <a:pt x="0" y="55689"/>
                    </a:lnTo>
                    <a:lnTo>
                      <a:pt x="0" y="0"/>
                    </a:lnTo>
                    <a:lnTo>
                      <a:pt x="751269" y="0"/>
                    </a:lnTo>
                    <a:cubicBezTo>
                      <a:pt x="740220" y="9335"/>
                      <a:pt x="730377" y="17526"/>
                      <a:pt x="720598" y="25845"/>
                    </a:cubicBezTo>
                    <a:cubicBezTo>
                      <a:pt x="672008" y="66441"/>
                      <a:pt x="627146" y="111303"/>
                      <a:pt x="586550" y="159893"/>
                    </a:cubicBezTo>
                    <a:cubicBezTo>
                      <a:pt x="565442" y="185196"/>
                      <a:pt x="547093" y="212678"/>
                      <a:pt x="531813" y="241871"/>
                    </a:cubicBezTo>
                    <a:cubicBezTo>
                      <a:pt x="530328" y="244527"/>
                      <a:pt x="527706" y="246353"/>
                      <a:pt x="524701" y="246824"/>
                    </a:cubicBezTo>
                    <a:cubicBezTo>
                      <a:pt x="503746" y="247205"/>
                      <a:pt x="482791" y="246824"/>
                      <a:pt x="461835" y="246824"/>
                    </a:cubicBezTo>
                    <a:cubicBezTo>
                      <a:pt x="460621" y="246721"/>
                      <a:pt x="459412" y="246551"/>
                      <a:pt x="458216" y="246317"/>
                    </a:cubicBezTo>
                    <a:cubicBezTo>
                      <a:pt x="475005" y="209733"/>
                      <a:pt x="496619" y="175563"/>
                      <a:pt x="522478" y="144717"/>
                    </a:cubicBezTo>
                    <a:cubicBezTo>
                      <a:pt x="547751" y="114554"/>
                      <a:pt x="574802" y="85471"/>
                      <a:pt x="601091" y="55689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7BA7C41-EA1C-2F4D-90C7-EC472AB85B8A}"/>
                  </a:ext>
                </a:extLst>
              </p:cNvPr>
              <p:cNvSpPr/>
              <p:nvPr userDrawn="1"/>
            </p:nvSpPr>
            <p:spPr>
              <a:xfrm>
                <a:off x="8428482" y="1870837"/>
                <a:ext cx="381000" cy="584200"/>
              </a:xfrm>
              <a:custGeom>
                <a:avLst/>
                <a:gdLst>
                  <a:gd name="connsiteX0" fmla="*/ 275717 w 381000"/>
                  <a:gd name="connsiteY0" fmla="*/ 292862 h 584200"/>
                  <a:gd name="connsiteX1" fmla="*/ 0 w 381000"/>
                  <a:gd name="connsiteY1" fmla="*/ 762 h 584200"/>
                  <a:gd name="connsiteX2" fmla="*/ 5779 w 381000"/>
                  <a:gd name="connsiteY2" fmla="*/ 0 h 584200"/>
                  <a:gd name="connsiteX3" fmla="*/ 65532 w 381000"/>
                  <a:gd name="connsiteY3" fmla="*/ 0 h 584200"/>
                  <a:gd name="connsiteX4" fmla="*/ 73089 w 381000"/>
                  <a:gd name="connsiteY4" fmla="*/ 4191 h 584200"/>
                  <a:gd name="connsiteX5" fmla="*/ 202629 w 381000"/>
                  <a:gd name="connsiteY5" fmla="*/ 164973 h 584200"/>
                  <a:gd name="connsiteX6" fmla="*/ 377889 w 381000"/>
                  <a:gd name="connsiteY6" fmla="*/ 290449 h 584200"/>
                  <a:gd name="connsiteX7" fmla="*/ 381318 w 381000"/>
                  <a:gd name="connsiteY7" fmla="*/ 292481 h 584200"/>
                  <a:gd name="connsiteX8" fmla="*/ 340043 w 381000"/>
                  <a:gd name="connsiteY8" fmla="*/ 317881 h 584200"/>
                  <a:gd name="connsiteX9" fmla="*/ 126238 w 381000"/>
                  <a:gd name="connsiteY9" fmla="*/ 500698 h 584200"/>
                  <a:gd name="connsiteX10" fmla="*/ 74358 w 381000"/>
                  <a:gd name="connsiteY10" fmla="*/ 579120 h 584200"/>
                  <a:gd name="connsiteX11" fmla="*/ 65024 w 381000"/>
                  <a:gd name="connsiteY11" fmla="*/ 584708 h 584200"/>
                  <a:gd name="connsiteX12" fmla="*/ 0 w 381000"/>
                  <a:gd name="connsiteY12" fmla="*/ 584708 h 584200"/>
                  <a:gd name="connsiteX13" fmla="*/ 275717 w 381000"/>
                  <a:gd name="connsiteY13" fmla="*/ 292862 h 584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1000" h="584200">
                    <a:moveTo>
                      <a:pt x="275717" y="292862"/>
                    </a:moveTo>
                    <a:cubicBezTo>
                      <a:pt x="157290" y="220155"/>
                      <a:pt x="68517" y="120840"/>
                      <a:pt x="0" y="762"/>
                    </a:cubicBezTo>
                    <a:cubicBezTo>
                      <a:pt x="1912" y="408"/>
                      <a:pt x="3840" y="154"/>
                      <a:pt x="5779" y="0"/>
                    </a:cubicBezTo>
                    <a:cubicBezTo>
                      <a:pt x="25654" y="0"/>
                      <a:pt x="45593" y="0"/>
                      <a:pt x="65532" y="0"/>
                    </a:cubicBezTo>
                    <a:cubicBezTo>
                      <a:pt x="68552" y="194"/>
                      <a:pt x="71325" y="1732"/>
                      <a:pt x="73089" y="4191"/>
                    </a:cubicBezTo>
                    <a:cubicBezTo>
                      <a:pt x="105855" y="66230"/>
                      <a:pt x="150940" y="118491"/>
                      <a:pt x="202629" y="164973"/>
                    </a:cubicBezTo>
                    <a:cubicBezTo>
                      <a:pt x="256618" y="212664"/>
                      <a:pt x="315344" y="254708"/>
                      <a:pt x="377889" y="290449"/>
                    </a:cubicBezTo>
                    <a:lnTo>
                      <a:pt x="381318" y="292481"/>
                    </a:lnTo>
                    <a:cubicBezTo>
                      <a:pt x="367221" y="301180"/>
                      <a:pt x="353568" y="309372"/>
                      <a:pt x="340043" y="317881"/>
                    </a:cubicBezTo>
                    <a:cubicBezTo>
                      <a:pt x="260224" y="368681"/>
                      <a:pt x="186246" y="426593"/>
                      <a:pt x="126238" y="500698"/>
                    </a:cubicBezTo>
                    <a:cubicBezTo>
                      <a:pt x="106331" y="525012"/>
                      <a:pt x="88949" y="551288"/>
                      <a:pt x="74358" y="579120"/>
                    </a:cubicBezTo>
                    <a:cubicBezTo>
                      <a:pt x="72939" y="582938"/>
                      <a:pt x="69060" y="585261"/>
                      <a:pt x="65024" y="584708"/>
                    </a:cubicBezTo>
                    <a:cubicBezTo>
                      <a:pt x="43879" y="584391"/>
                      <a:pt x="22733" y="584708"/>
                      <a:pt x="0" y="584708"/>
                    </a:cubicBezTo>
                    <a:cubicBezTo>
                      <a:pt x="68517" y="464693"/>
                      <a:pt x="157862" y="365951"/>
                      <a:pt x="275717" y="292862"/>
                    </a:cubicBezTo>
                    <a:close/>
                  </a:path>
                </a:pathLst>
              </a:custGeom>
              <a:grpFill/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5710699" cy="2277604"/>
          </a:xfrm>
        </p:spPr>
        <p:txBody>
          <a:bodyPr anchor="ctr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pic>
        <p:nvPicPr>
          <p:cNvPr id="17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69" r="-169"/>
          <a:stretch/>
        </p:blipFill>
        <p:spPr>
          <a:xfrm>
            <a:off x="349135" y="532015"/>
            <a:ext cx="2119745" cy="123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59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- With side bar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7"/>
          <a:stretch/>
        </p:blipFill>
        <p:spPr>
          <a:xfrm>
            <a:off x="0" y="727389"/>
            <a:ext cx="3884023" cy="1758582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49643" y="930001"/>
            <a:ext cx="7382347" cy="676679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none" baseline="0">
                <a:solidFill>
                  <a:schemeClr val="tx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2135188" y="3823677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732" t="-5388" r="-9847" b="6180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852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53"/>
          <a:stretch/>
        </p:blipFill>
        <p:spPr>
          <a:xfrm rot="16200000">
            <a:off x="-1630516" y="2753391"/>
            <a:ext cx="5624513" cy="258470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195034" y="3432175"/>
            <a:ext cx="5621337" cy="3046413"/>
          </a:xfrm>
        </p:spPr>
        <p:txBody>
          <a:bodyPr/>
          <a:lstStyle>
            <a:lvl1pPr marL="270000" indent="-270000">
              <a:buFont typeface="Arial" panose="020B0604020202020204" pitchFamily="34" charset="0"/>
              <a:buChar char="•"/>
              <a:defRPr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Text to sit here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683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24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35" r:id="rId2"/>
    <p:sldLayoutId id="214748383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66" userDrawn="1">
          <p15:clr>
            <a:srgbClr val="F26B43"/>
          </p15:clr>
        </p15:guide>
        <p15:guide id="3" pos="247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4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12" r:id="rId5"/>
    <p:sldLayoutId id="2147483713" r:id="rId6"/>
    <p:sldLayoutId id="2147483714" r:id="rId7"/>
    <p:sldLayoutId id="2147483715" r:id="rId8"/>
    <p:sldLayoutId id="2147483708" r:id="rId9"/>
    <p:sldLayoutId id="2147483721" r:id="rId10"/>
    <p:sldLayoutId id="2147483722" r:id="rId11"/>
    <p:sldLayoutId id="214748372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218" y="365125"/>
            <a:ext cx="1147156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218" y="1825625"/>
            <a:ext cx="114715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13985" y="6311899"/>
            <a:ext cx="1217797" cy="3233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C554F-2335-4EBA-A5CB-7E6DBA707A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65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815" r:id="rId2"/>
    <p:sldLayoutId id="2147483699" r:id="rId3"/>
    <p:sldLayoutId id="2147483724" r:id="rId4"/>
    <p:sldLayoutId id="2147483811" r:id="rId5"/>
    <p:sldLayoutId id="214748381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212B6014-B4C6-4FE4-AFC5-8DF5516F4E9B}" type="datetimeFigureOut">
              <a:rPr lang="en-GB" smtClean="0">
                <a:solidFill>
                  <a:srgbClr val="004050">
                    <a:tint val="75000"/>
                  </a:srgbClr>
                </a:solidFill>
              </a:rPr>
              <a:pPr/>
              <a:t>17/06/2026</a:t>
            </a:fld>
            <a:endParaRPr lang="en-GB" dirty="0">
              <a:solidFill>
                <a:srgbClr val="004050">
                  <a:tint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GB" dirty="0">
              <a:solidFill>
                <a:srgbClr val="004050">
                  <a:tint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CB6CFFC-8213-48C9-8692-0F447323F3DE}" type="slidenum">
              <a:rPr lang="en-GB" smtClean="0">
                <a:solidFill>
                  <a:srgbClr val="004050">
                    <a:tint val="75000"/>
                  </a:srgbClr>
                </a:solidFill>
              </a:rPr>
              <a:pPr/>
              <a:t>‹#›</a:t>
            </a:fld>
            <a:endParaRPr lang="en-GB" dirty="0">
              <a:solidFill>
                <a:srgbClr val="00405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6805447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Clr>
          <a:schemeClr val="tx1"/>
        </a:buClr>
        <a:buSzPct val="115000"/>
        <a:buFont typeface="Montserrat" panose="00000500000000000000" pitchFamily="2" charset="0"/>
        <a:buChar char="→"/>
        <a:defRPr sz="1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Clr>
          <a:schemeClr val="tx1"/>
        </a:buClr>
        <a:buSzPct val="125000"/>
        <a:buFont typeface="Montserrat" panose="00000500000000000000" pitchFamily="2" charset="0"/>
        <a:buChar char="→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Clr>
          <a:schemeClr val="tx1"/>
        </a:buClr>
        <a:buSzPct val="120000"/>
        <a:buFont typeface="Montserrat" panose="00000500000000000000" pitchFamily="2" charset="0"/>
        <a:buChar char="→"/>
        <a:defRPr sz="105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Clr>
          <a:schemeClr val="tx1"/>
        </a:buClr>
        <a:buSzPct val="120000"/>
        <a:buFont typeface="Montserrat" panose="00000500000000000000" pitchFamily="2" charset="0"/>
        <a:buChar char="→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Clr>
          <a:schemeClr val="tx1"/>
        </a:buClr>
        <a:buSzPct val="125000"/>
        <a:buFont typeface="Montserrat" panose="00000500000000000000" pitchFamily="2" charset="0"/>
        <a:buChar char="→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68A476D-7F8F-D2D4-6221-5C4DD5ABDC05}"/>
              </a:ext>
            </a:extLst>
          </p:cNvPr>
          <p:cNvSpPr txBox="1"/>
          <p:nvPr/>
        </p:nvSpPr>
        <p:spPr>
          <a:xfrm>
            <a:off x="309100" y="1406942"/>
            <a:ext cx="6460000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Software Methodologies</a:t>
            </a:r>
            <a:endParaRPr lang="en-GB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2030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3017459" y="960100"/>
            <a:ext cx="8816732" cy="922432"/>
          </a:xfrm>
        </p:spPr>
        <p:txBody>
          <a:bodyPr>
            <a:normAutofit/>
          </a:bodyPr>
          <a:lstStyle/>
          <a:p>
            <a:r>
              <a:rPr lang="en-GB" sz="4400" dirty="0">
                <a:latin typeface="+mj-lt"/>
              </a:rPr>
              <a:t>Contents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3017459" y="1882532"/>
            <a:ext cx="8936002" cy="2371901"/>
          </a:xfrm>
          <a:prstGeom prst="rect">
            <a:avLst/>
          </a:prstGeo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SDLC and Agile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DevOps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Dockers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0" dirty="0"/>
              <a:t>CI/CD using Jenkins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E81F6D2-42EB-49B8-BBA1-49DD28B55271}"/>
              </a:ext>
            </a:extLst>
          </p:cNvPr>
          <p:cNvSpPr txBox="1">
            <a:spLocks/>
          </p:cNvSpPr>
          <p:nvPr/>
        </p:nvSpPr>
        <p:spPr>
          <a:xfrm>
            <a:off x="3017459" y="4759860"/>
            <a:ext cx="8936002" cy="19187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GB" b="0" dirty="0"/>
          </a:p>
        </p:txBody>
      </p:sp>
    </p:spTree>
    <p:extLst>
      <p:ext uri="{BB962C8B-B14F-4D97-AF65-F5344CB8AC3E}">
        <p14:creationId xmlns:p14="http://schemas.microsoft.com/office/powerpoint/2010/main" val="2730247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Course materials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51531-2E3B-4D15-AE36-13A6DF2818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37138" y="1122744"/>
            <a:ext cx="6733684" cy="5294680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Course materials will be distributed as needed through an appropriate channel (WebEx / OneDrive / email)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8452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DEVELOPMENT ENVIRONMENT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51531-2E3B-4D15-AE36-13A6DF2818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1076446"/>
            <a:ext cx="7053262" cy="5340978"/>
          </a:xfrm>
        </p:spPr>
        <p:txBody>
          <a:bodyPr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Remote PCs are available</a:t>
            </a:r>
            <a:endParaRPr lang="en-GB" dirty="0"/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If using own PC...</a:t>
            </a:r>
            <a:br>
              <a:rPr lang="en-GB" b="1" dirty="0"/>
            </a:br>
            <a:endParaRPr lang="en-GB" b="1" dirty="0"/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Visual Studio Code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GitHub account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 err="1"/>
              <a:t>DockerHub</a:t>
            </a:r>
            <a:r>
              <a:rPr lang="en-GB" dirty="0"/>
              <a:t> account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Node JS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Docker Desktop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Java</a:t>
            </a:r>
          </a:p>
          <a:p>
            <a:pPr marL="522900" lvl="1" indent="-342900">
              <a:buFont typeface="Wingdings" panose="05000000000000000000" pitchFamily="2" charset="2"/>
              <a:buChar char="q"/>
            </a:pPr>
            <a:endParaRPr lang="en-GB" dirty="0"/>
          </a:p>
          <a:p>
            <a:pPr marL="522900" lvl="1" indent="-342900">
              <a:buFont typeface="Wingdings" panose="05000000000000000000" pitchFamily="2" charset="2"/>
              <a:buChar char="q"/>
            </a:pPr>
            <a:r>
              <a:rPr lang="en-GB" dirty="0"/>
              <a:t>In both cases, you’ll need </a:t>
            </a:r>
            <a:r>
              <a:rPr lang="en-GB" b="1" dirty="0"/>
              <a:t>GitHub &amp; </a:t>
            </a:r>
            <a:r>
              <a:rPr lang="en-GB" b="1"/>
              <a:t>DockerHub</a:t>
            </a:r>
            <a:r>
              <a:rPr lang="en-GB"/>
              <a:t> </a:t>
            </a:r>
            <a:r>
              <a:rPr lang="en-GB" dirty="0"/>
              <a:t>account</a:t>
            </a:r>
          </a:p>
          <a:p>
            <a:pPr lvl="1" indent="0">
              <a:buNone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8813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85301" y="1914129"/>
            <a:ext cx="5710699" cy="1999949"/>
          </a:xfrm>
        </p:spPr>
        <p:txBody>
          <a:bodyPr/>
          <a:lstStyle/>
          <a:p>
            <a:r>
              <a:rPr lang="en-GB" sz="4400" dirty="0"/>
              <a:t>Introductions</a:t>
            </a:r>
          </a:p>
        </p:txBody>
      </p:sp>
    </p:spTree>
    <p:extLst>
      <p:ext uri="{BB962C8B-B14F-4D97-AF65-F5344CB8AC3E}">
        <p14:creationId xmlns:p14="http://schemas.microsoft.com/office/powerpoint/2010/main" val="1321370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114161" y="1241306"/>
            <a:ext cx="7382347" cy="676679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latin typeface="+mj-lt"/>
              </a:rPr>
              <a:t>It’s all about YOU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161" y="2271598"/>
            <a:ext cx="2182874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Name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0424" y="2271598"/>
            <a:ext cx="2300926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Job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161" y="4189609"/>
            <a:ext cx="2182874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Knowledge and Experience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06072" y="4189610"/>
            <a:ext cx="2265278" cy="17780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Your aims for the course?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F6524-2E0D-4156-8515-D58811240160}"/>
              </a:ext>
            </a:extLst>
          </p:cNvPr>
          <p:cNvSpPr txBox="1"/>
          <p:nvPr/>
        </p:nvSpPr>
        <p:spPr>
          <a:xfrm>
            <a:off x="1180249" y="4478472"/>
            <a:ext cx="23819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SDLC</a:t>
            </a:r>
          </a:p>
          <a:p>
            <a:r>
              <a:rPr lang="en-GB" sz="2000" b="1" dirty="0"/>
              <a:t>DevOps</a:t>
            </a:r>
          </a:p>
          <a:p>
            <a:r>
              <a:rPr lang="en-GB" sz="2000" b="1" dirty="0"/>
              <a:t>Dockers, </a:t>
            </a:r>
            <a:br>
              <a:rPr lang="en-GB" sz="2000" b="1" dirty="0"/>
            </a:br>
            <a:r>
              <a:rPr lang="en-GB" sz="2000" b="1" dirty="0"/>
              <a:t>Jenkins, CI/CD</a:t>
            </a:r>
          </a:p>
        </p:txBody>
      </p:sp>
    </p:spTree>
    <p:extLst>
      <p:ext uri="{BB962C8B-B14F-4D97-AF65-F5344CB8AC3E}">
        <p14:creationId xmlns:p14="http://schemas.microsoft.com/office/powerpoint/2010/main" val="357222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468829" y="1492926"/>
            <a:ext cx="5627171" cy="2277604"/>
          </a:xfrm>
        </p:spPr>
        <p:txBody>
          <a:bodyPr/>
          <a:lstStyle/>
          <a:p>
            <a:r>
              <a:rPr lang="en-GB" dirty="0"/>
              <a:t>Let’s Get Started…</a:t>
            </a:r>
          </a:p>
        </p:txBody>
      </p:sp>
    </p:spTree>
    <p:extLst>
      <p:ext uri="{BB962C8B-B14F-4D97-AF65-F5344CB8AC3E}">
        <p14:creationId xmlns:p14="http://schemas.microsoft.com/office/powerpoint/2010/main" val="919621199"/>
      </p:ext>
    </p:extLst>
  </p:cSld>
  <p:clrMapOvr>
    <a:masterClrMapping/>
  </p:clrMapOvr>
</p:sld>
</file>

<file path=ppt/theme/theme1.xml><?xml version="1.0" encoding="utf-8"?>
<a:theme xmlns:a="http://schemas.openxmlformats.org/drawingml/2006/main" name="Housekeeping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(New!) Branding.potx" id="{83DCB673-379A-45B6-B7B1-E12343F6BFED}" vid="{767C81DF-5EBE-4E64-A0EB-8813F6732124}"/>
    </a:ext>
  </a:extLst>
</a:theme>
</file>

<file path=ppt/theme/theme2.xml><?xml version="1.0" encoding="utf-8"?>
<a:theme xmlns:a="http://schemas.openxmlformats.org/drawingml/2006/main" name="Arrows &amp;&amp; Content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(New!) Branding.potx" id="{83DCB673-379A-45B6-B7B1-E12343F6BFED}" vid="{DA9CF464-D0D6-4695-AFC6-3293B48FAD97}"/>
    </a:ext>
  </a:extLst>
</a:theme>
</file>

<file path=ppt/theme/theme3.xml><?xml version="1.0" encoding="utf-8"?>
<a:theme xmlns:a="http://schemas.openxmlformats.org/drawingml/2006/main" name="People">
  <a:themeElements>
    <a:clrScheme name="QA Branding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ing">
      <a:majorFont>
        <a:latin typeface="Montserrat Black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w (New!) Branding.potx" id="{83DCB673-379A-45B6-B7B1-E12343F6BFED}" vid="{12D1817D-E4DD-4395-8BCE-C12B090B7198}"/>
    </a:ext>
  </a:extLst>
</a:theme>
</file>

<file path=ppt/theme/theme4.xml><?xml version="1.0" encoding="utf-8"?>
<a:theme xmlns:a="http://schemas.openxmlformats.org/drawingml/2006/main" name="1_Arrows">
  <a:themeElements>
    <a:clrScheme name="QA Mixed">
      <a:dk1>
        <a:srgbClr val="004050"/>
      </a:dk1>
      <a:lt1>
        <a:sysClr val="window" lastClr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 Slides (New Branding).potx" id="{DDCF9AE5-F7D6-49ED-B886-49D685730D70}" vid="{FEDE240D-D909-44ED-91CB-E279E6B83FB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Slides Dec 2019</Template>
  <TotalTime>0</TotalTime>
  <Words>243</Words>
  <Application>Microsoft Office PowerPoint</Application>
  <PresentationFormat>Widescreen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Montserrat Black</vt:lpstr>
      <vt:lpstr>Calibri</vt:lpstr>
      <vt:lpstr>Montserrat</vt:lpstr>
      <vt:lpstr>Times New Roman</vt:lpstr>
      <vt:lpstr>Wingdings</vt:lpstr>
      <vt:lpstr>Housekeeping</vt:lpstr>
      <vt:lpstr>Arrows &amp;&amp; Content</vt:lpstr>
      <vt:lpstr>People</vt:lpstr>
      <vt:lpstr>1_Arrows</vt:lpstr>
      <vt:lpstr>PowerPoint Presentation</vt:lpstr>
      <vt:lpstr>PowerPoint Presentation</vt:lpstr>
      <vt:lpstr>Course materials</vt:lpstr>
      <vt:lpstr>DEVELOPMENT ENVIRONMENT</vt:lpstr>
      <vt:lpstr>Introductions</vt:lpstr>
      <vt:lpstr>PowerPoint Presentation</vt:lpstr>
      <vt:lpstr>Let’s Get Started…</vt:lpstr>
    </vt:vector>
  </TitlesOfParts>
  <Company>QA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title here</dc:title>
  <dc:creator>Atkinson-Weller, Jane</dc:creator>
  <cp:lastModifiedBy>mike baradaran</cp:lastModifiedBy>
  <cp:revision>76</cp:revision>
  <cp:lastPrinted>2020-10-19T14:05:57Z</cp:lastPrinted>
  <dcterms:created xsi:type="dcterms:W3CDTF">2020-09-15T07:51:55Z</dcterms:created>
  <dcterms:modified xsi:type="dcterms:W3CDTF">2026-06-17T09:08:10Z</dcterms:modified>
</cp:coreProperties>
</file>